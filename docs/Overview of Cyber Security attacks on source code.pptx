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0"/>
  </p:notesMasterIdLst>
  <p:sldIdLst>
    <p:sldId id="256" r:id="rId2"/>
    <p:sldId id="261" r:id="rId3"/>
    <p:sldId id="293" r:id="rId4"/>
    <p:sldId id="294" r:id="rId5"/>
    <p:sldId id="295" r:id="rId6"/>
    <p:sldId id="296" r:id="rId7"/>
    <p:sldId id="297" r:id="rId8"/>
    <p:sldId id="298" r:id="rId9"/>
    <p:sldId id="299" r:id="rId10"/>
    <p:sldId id="300" r:id="rId11"/>
    <p:sldId id="303" r:id="rId12"/>
    <p:sldId id="301" r:id="rId13"/>
    <p:sldId id="302" r:id="rId14"/>
    <p:sldId id="262" r:id="rId15"/>
    <p:sldId id="292"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57" r:id="rId37"/>
    <p:sldId id="288" r:id="rId38"/>
    <p:sldId id="289" r:id="rId39"/>
    <p:sldId id="260"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8" r:id="rId53"/>
    <p:sldId id="316" r:id="rId54"/>
    <p:sldId id="317" r:id="rId55"/>
    <p:sldId id="319" r:id="rId56"/>
    <p:sldId id="290" r:id="rId57"/>
    <p:sldId id="291" r:id="rId58"/>
    <p:sldId id="320"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432" y="5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BAEFEB-CA30-49BE-8A2E-55BE2446AB45}" type="datetimeFigureOut">
              <a:rPr lang="en-US" smtClean="0"/>
              <a:t>12/12/2024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CCD63-8B60-4CAE-91F2-82070B8C7835}" type="slidenum">
              <a:rPr lang="en-US" smtClean="0"/>
              <a:t>‹#›</a:t>
            </a:fld>
            <a:endParaRPr lang="en-US"/>
          </a:p>
        </p:txBody>
      </p:sp>
    </p:spTree>
    <p:extLst>
      <p:ext uri="{BB962C8B-B14F-4D97-AF65-F5344CB8AC3E}">
        <p14:creationId xmlns:p14="http://schemas.microsoft.com/office/powerpoint/2010/main" val="1770766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https://github.com/binjamil/alzheimers</a:t>
            </a:r>
          </a:p>
        </p:txBody>
      </p:sp>
      <p:sp>
        <p:nvSpPr>
          <p:cNvPr id="4" name="Slide Number Placeholder 3"/>
          <p:cNvSpPr>
            <a:spLocks noGrp="1"/>
          </p:cNvSpPr>
          <p:nvPr>
            <p:ph type="sldNum" sz="quarter" idx="5"/>
          </p:nvPr>
        </p:nvSpPr>
        <p:spPr/>
        <p:txBody>
          <a:bodyPr/>
          <a:lstStyle/>
          <a:p>
            <a:fld id="{C1F7051B-004E-4794-B02E-A56EB887B821}" type="slidenum">
              <a:rPr lang="en-IN" smtClean="0"/>
              <a:t>42</a:t>
            </a:fld>
            <a:endParaRPr lang="en-IN"/>
          </a:p>
        </p:txBody>
      </p:sp>
    </p:spTree>
    <p:extLst>
      <p:ext uri="{BB962C8B-B14F-4D97-AF65-F5344CB8AC3E}">
        <p14:creationId xmlns:p14="http://schemas.microsoft.com/office/powerpoint/2010/main" val="17618697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726F70F-2A8B-4F38-BB6F-F3ABD5FA7CB6}" type="datetimeFigureOut">
              <a:rPr lang="en-IN" smtClean="0"/>
              <a:pPr/>
              <a:t>12-12-2024</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CA39F046-B4CB-4020-BE9F-2E3D156E3DF6}"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726F70F-2A8B-4F38-BB6F-F3ABD5FA7CB6}" type="datetimeFigureOut">
              <a:rPr lang="en-IN" smtClean="0"/>
              <a:pPr/>
              <a:t>12-12-2024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CA39F046-B4CB-4020-BE9F-2E3D156E3DF6}" type="slidenum">
              <a:rPr lang="en-IN" smtClean="0"/>
              <a:pPr/>
              <a:t>‹#›</a:t>
            </a:fld>
            <a:endParaRPr lang="en-IN"/>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C726F70F-2A8B-4F38-BB6F-F3ABD5FA7CB6}" type="datetimeFigureOut">
              <a:rPr lang="en-IN" smtClean="0"/>
              <a:pPr/>
              <a:t>12-12-2024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CA39F046-B4CB-4020-BE9F-2E3D156E3DF6}" type="slidenum">
              <a:rPr lang="en-IN" smtClean="0"/>
              <a:pPr/>
              <a:t>‹#›</a:t>
            </a:fld>
            <a:endParaRPr lang="en-IN"/>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726F70F-2A8B-4F38-BB6F-F3ABD5FA7CB6}" type="datetimeFigureOut">
              <a:rPr lang="en-IN" smtClean="0"/>
              <a:pPr/>
              <a:t>12-12-2024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CA39F046-B4CB-4020-BE9F-2E3D156E3DF6}" type="slidenum">
              <a:rPr lang="en-IN" smtClean="0"/>
              <a:pPr/>
              <a:t>‹#›</a:t>
            </a:fld>
            <a:endParaRPr lang="en-IN"/>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C726F70F-2A8B-4F38-BB6F-F3ABD5FA7CB6}" type="datetimeFigureOut">
              <a:rPr lang="en-IN" smtClean="0"/>
              <a:pPr/>
              <a:t>12-12-2024</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CA39F046-B4CB-4020-BE9F-2E3D156E3DF6}"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C726F70F-2A8B-4F38-BB6F-F3ABD5FA7CB6}" type="datetimeFigureOut">
              <a:rPr lang="en-IN" smtClean="0"/>
              <a:pPr/>
              <a:t>12-12-2024</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CA39F046-B4CB-4020-BE9F-2E3D156E3DF6}" type="slidenum">
              <a:rPr lang="en-IN" smtClean="0"/>
              <a:pPr/>
              <a:t>‹#›</a:t>
            </a:fld>
            <a:endParaRPr lang="en-IN"/>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C726F70F-2A8B-4F38-BB6F-F3ABD5FA7CB6}" type="datetimeFigureOut">
              <a:rPr lang="en-IN" smtClean="0"/>
              <a:pPr/>
              <a:t>12-12-2024</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CA39F046-B4CB-4020-BE9F-2E3D156E3DF6}"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extLst/>
          </a:lstStyle>
          <a:p>
            <a:fld id="{C726F70F-2A8B-4F38-BB6F-F3ABD5FA7CB6}" type="datetimeFigureOut">
              <a:rPr lang="en-IN" smtClean="0"/>
              <a:pPr/>
              <a:t>12-12-2024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CA39F046-B4CB-4020-BE9F-2E3D156E3DF6}"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726F70F-2A8B-4F38-BB6F-F3ABD5FA7CB6}" type="datetimeFigureOut">
              <a:rPr lang="en-IN" smtClean="0"/>
              <a:pPr/>
              <a:t>12-12-2024</a:t>
            </a:fld>
            <a:endParaRPr lang="en-IN"/>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CA39F046-B4CB-4020-BE9F-2E3D156E3DF6}" type="slidenum">
              <a:rPr lang="en-IN" smtClean="0"/>
              <a:pPr/>
              <a:t>‹#›</a:t>
            </a:fld>
            <a:endParaRPr lang="en-IN"/>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8056" y="5791253"/>
            <a:ext cx="4536419"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1481330"/>
            <a:ext cx="109728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726F70F-2A8B-4F38-BB6F-F3ABD5FA7CB6}" type="datetimeFigureOut">
              <a:rPr lang="en-IN" smtClean="0"/>
              <a:pPr/>
              <a:t>12-12-2024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CA39F046-B4CB-4020-BE9F-2E3D156E3DF6}"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41"/>
            <a:ext cx="84328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726F70F-2A8B-4F38-BB6F-F3ABD5FA7CB6}" type="datetimeFigureOut">
              <a:rPr lang="en-IN" smtClean="0"/>
              <a:pPr/>
              <a:t>12-12-2024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CA39F046-B4CB-4020-BE9F-2E3D156E3DF6}"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8056" y="5791253"/>
            <a:ext cx="4536419"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C726F70F-2A8B-4F38-BB6F-F3ABD5FA7CB6}" type="datetimeFigureOut">
              <a:rPr lang="en-IN" smtClean="0"/>
              <a:pPr/>
              <a:t>12-12-2024</a:t>
            </a:fld>
            <a:endParaRPr lang="en-IN"/>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CA39F046-B4CB-4020-BE9F-2E3D156E3DF6}"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cwe.mitre.org/top25/index.html#CWE-131" TargetMode="External"/><Relationship Id="rId2" Type="http://schemas.openxmlformats.org/officeDocument/2006/relationships/hyperlink" Target="http://cwe.mitre.org/top25/index.html#CWE-120" TargetMode="External"/><Relationship Id="rId1" Type="http://schemas.openxmlformats.org/officeDocument/2006/relationships/slideLayout" Target="../slideLayouts/slideLayout2.xml"/><Relationship Id="rId5" Type="http://schemas.openxmlformats.org/officeDocument/2006/relationships/hyperlink" Target="https://cwe.mitre.org/data/definitions/193.html" TargetMode="External"/><Relationship Id="rId4" Type="http://schemas.openxmlformats.org/officeDocument/2006/relationships/hyperlink" Target="http://cwe.mitre.org/top25/index.html#CWE-134" TargetMode="Externa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A184A7-A29A-756D-E1DE-76D51EAB8337}"/>
              </a:ext>
            </a:extLst>
          </p:cNvPr>
          <p:cNvSpPr>
            <a:spLocks noGrp="1"/>
          </p:cNvSpPr>
          <p:nvPr>
            <p:ph type="ctrTitle"/>
          </p:nvPr>
        </p:nvSpPr>
        <p:spPr/>
        <p:txBody>
          <a:bodyPr>
            <a:normAutofit/>
          </a:bodyPr>
          <a:lstStyle/>
          <a:p>
            <a:r>
              <a:rPr lang="en-US" b="1" dirty="0" smtClean="0">
                <a:latin typeface="Times New Roman" pitchFamily="18" charset="0"/>
                <a:cs typeface="Times New Roman" pitchFamily="18" charset="0"/>
              </a:rPr>
              <a:t>Overview of Cyber Security attacks on source code</a:t>
            </a:r>
            <a:endParaRPr lang="en-IN" b="1" dirty="0">
              <a:latin typeface="Times New Roman" pitchFamily="18" charset="0"/>
              <a:cs typeface="Times New Roman" pitchFamily="18" charset="0"/>
            </a:endParaRPr>
          </a:p>
        </p:txBody>
      </p:sp>
      <p:sp>
        <p:nvSpPr>
          <p:cNvPr id="3" name="Subtitle 2">
            <a:extLst>
              <a:ext uri="{FF2B5EF4-FFF2-40B4-BE49-F238E27FC236}">
                <a16:creationId xmlns="" xmlns:a16="http://schemas.microsoft.com/office/drawing/2014/main" id="{C0AE596F-83C8-860A-1AD0-0BDD25C74127}"/>
              </a:ext>
            </a:extLst>
          </p:cNvPr>
          <p:cNvSpPr>
            <a:spLocks noGrp="1"/>
          </p:cNvSpPr>
          <p:nvPr>
            <p:ph type="subTitle" idx="1"/>
          </p:nvPr>
        </p:nvSpPr>
        <p:spPr/>
        <p:txBody>
          <a:bodyPr>
            <a:normAutofit/>
          </a:bodyPr>
          <a:lstStyle/>
          <a:p>
            <a:endParaRPr lang="en-IN" sz="4800" dirty="0">
              <a:latin typeface="Times New Roman" pitchFamily="18" charset="0"/>
              <a:cs typeface="Times New Roman" pitchFamily="18" charset="0"/>
            </a:endParaRPr>
          </a:p>
        </p:txBody>
      </p:sp>
    </p:spTree>
    <p:extLst>
      <p:ext uri="{BB962C8B-B14F-4D97-AF65-F5344CB8AC3E}">
        <p14:creationId xmlns:p14="http://schemas.microsoft.com/office/powerpoint/2010/main" val="5371643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5921224-0104-B952-398A-4FB40F9F2862}"/>
              </a:ext>
            </a:extLst>
          </p:cNvPr>
          <p:cNvSpPr>
            <a:spLocks noGrp="1"/>
          </p:cNvSpPr>
          <p:nvPr>
            <p:ph idx="1"/>
          </p:nvPr>
        </p:nvSpPr>
        <p:spPr/>
        <p:txBody>
          <a:bodyPr/>
          <a:lstStyle/>
          <a:p>
            <a:pPr algn="l"/>
            <a:r>
              <a:rPr lang="en-US" sz="2400" b="0" i="0" dirty="0">
                <a:effectLst/>
                <a:latin typeface="Times New Roman" pitchFamily="18" charset="0"/>
                <a:cs typeface="Times New Roman" pitchFamily="18" charset="0"/>
              </a:rPr>
              <a:t>C++ offers many powerful capabilities to developers, which is why it’s </a:t>
            </a:r>
            <a:r>
              <a:rPr lang="en-US" sz="2400" i="0" dirty="0">
                <a:effectLst/>
                <a:latin typeface="Times New Roman" pitchFamily="18" charset="0"/>
                <a:cs typeface="Times New Roman" pitchFamily="18" charset="0"/>
              </a:rPr>
              <a:t>used in many </a:t>
            </a:r>
            <a:r>
              <a:rPr lang="en-US" sz="2400" i="0" dirty="0" smtClean="0">
                <a:effectLst/>
                <a:latin typeface="Times New Roman" pitchFamily="18" charset="0"/>
                <a:cs typeface="Times New Roman" pitchFamily="18" charset="0"/>
              </a:rPr>
              <a:t>industries</a:t>
            </a:r>
            <a:r>
              <a:rPr lang="en-US" sz="2400" b="0" i="0" dirty="0">
                <a:effectLst/>
                <a:latin typeface="Times New Roman" pitchFamily="18" charset="0"/>
                <a:cs typeface="Times New Roman" pitchFamily="18" charset="0"/>
              </a:rPr>
              <a:t> and many core systems. But unlike some higher-level languages that offer less direct control over resources, C++ has a variety of security concerns that developers must be keenly aware of when writing code to avoid introducing vulnerabilities into projects.</a:t>
            </a:r>
          </a:p>
          <a:p>
            <a:pPr algn="l"/>
            <a:r>
              <a:rPr lang="en-US" sz="2400" b="0" i="0" dirty="0">
                <a:effectLst/>
                <a:latin typeface="Times New Roman" pitchFamily="18" charset="0"/>
                <a:cs typeface="Times New Roman" pitchFamily="18" charset="0"/>
              </a:rPr>
              <a:t>As developers, we build applications with our end-users in mind. They trust us with their data, time, and device access. It’s our responsibility to ensure that our </a:t>
            </a:r>
            <a:r>
              <a:rPr lang="en-US" sz="2400" b="0" i="0" dirty="0" smtClean="0">
                <a:effectLst/>
                <a:latin typeface="Times New Roman" pitchFamily="18" charset="0"/>
                <a:cs typeface="Times New Roman" pitchFamily="18" charset="0"/>
              </a:rPr>
              <a:t>application </a:t>
            </a:r>
            <a:r>
              <a:rPr lang="en-US" sz="2400" b="0" i="0" dirty="0">
                <a:effectLst/>
                <a:latin typeface="Times New Roman" pitchFamily="18" charset="0"/>
                <a:cs typeface="Times New Roman" pitchFamily="18" charset="0"/>
              </a:rPr>
              <a:t>and our users’ data </a:t>
            </a:r>
            <a:r>
              <a:rPr lang="en-US" sz="2400" b="0" i="0" dirty="0" smtClean="0">
                <a:effectLst/>
                <a:latin typeface="Times New Roman" pitchFamily="18" charset="0"/>
                <a:cs typeface="Times New Roman" pitchFamily="18" charset="0"/>
              </a:rPr>
              <a:t>is </a:t>
            </a:r>
            <a:r>
              <a:rPr lang="en-US" sz="2400" b="0" i="0" dirty="0">
                <a:effectLst/>
                <a:latin typeface="Times New Roman" pitchFamily="18" charset="0"/>
                <a:cs typeface="Times New Roman" pitchFamily="18" charset="0"/>
              </a:rPr>
              <a:t>always safe and secure.</a:t>
            </a:r>
          </a:p>
          <a:p>
            <a:endParaRPr lang="en-IN" dirty="0"/>
          </a:p>
        </p:txBody>
      </p:sp>
      <p:sp>
        <p:nvSpPr>
          <p:cNvPr id="2" name="Title 1">
            <a:extLst>
              <a:ext uri="{FF2B5EF4-FFF2-40B4-BE49-F238E27FC236}">
                <a16:creationId xmlns="" xmlns:a16="http://schemas.microsoft.com/office/drawing/2014/main" id="{85EF68CE-880A-5DAD-25EA-A691EA54AC77}"/>
              </a:ext>
            </a:extLst>
          </p:cNvPr>
          <p:cNvSpPr>
            <a:spLocks noGrp="1"/>
          </p:cNvSpPr>
          <p:nvPr>
            <p:ph type="title"/>
          </p:nvPr>
        </p:nvSpPr>
        <p:spPr/>
        <p:txBody>
          <a:bodyPr>
            <a:normAutofit/>
          </a:bodyPr>
          <a:lstStyle/>
          <a:p>
            <a:r>
              <a:rPr lang="en-US" sz="4000" b="1" dirty="0">
                <a:solidFill>
                  <a:srgbClr val="030328"/>
                </a:solidFill>
                <a:effectLst/>
                <a:latin typeface="Times New Roman" pitchFamily="18" charset="0"/>
                <a:cs typeface="Times New Roman" pitchFamily="18" charset="0"/>
              </a:rPr>
              <a:t>Top 5 C++ security </a:t>
            </a:r>
            <a:r>
              <a:rPr lang="en-US" sz="4000" b="1" dirty="0" smtClean="0">
                <a:solidFill>
                  <a:srgbClr val="030328"/>
                </a:solidFill>
                <a:effectLst/>
                <a:latin typeface="Times New Roman" pitchFamily="18" charset="0"/>
                <a:cs typeface="Times New Roman" pitchFamily="18" charset="0"/>
              </a:rPr>
              <a:t>risks</a:t>
            </a:r>
            <a:endParaRPr lang="en-IN" sz="4000" dirty="0"/>
          </a:p>
        </p:txBody>
      </p:sp>
    </p:spTree>
    <p:extLst>
      <p:ext uri="{BB962C8B-B14F-4D97-AF65-F5344CB8AC3E}">
        <p14:creationId xmlns:p14="http://schemas.microsoft.com/office/powerpoint/2010/main" val="38869440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849948-C252-AA07-1354-B8521AA3BB4B}"/>
              </a:ext>
            </a:extLst>
          </p:cNvPr>
          <p:cNvSpPr>
            <a:spLocks noGrp="1"/>
          </p:cNvSpPr>
          <p:nvPr>
            <p:ph type="title"/>
          </p:nvPr>
        </p:nvSpPr>
        <p:spPr/>
        <p:txBody>
          <a:bodyPr>
            <a:normAutofit fontScale="90000"/>
          </a:bodyPr>
          <a:lstStyle/>
          <a:p>
            <a:r>
              <a:rPr lang="en-IN" b="1" i="0" dirty="0">
                <a:solidFill>
                  <a:srgbClr val="242424"/>
                </a:solidFill>
                <a:effectLst/>
                <a:latin typeface="sohne"/>
              </a:rPr>
              <a:t>Problems with Memory</a:t>
            </a:r>
            <a:br>
              <a:rPr lang="en-IN" b="1" i="0" dirty="0">
                <a:solidFill>
                  <a:srgbClr val="242424"/>
                </a:solidFill>
                <a:effectLst/>
                <a:latin typeface="sohne"/>
              </a:rPr>
            </a:br>
            <a:endParaRPr lang="en-IN" dirty="0"/>
          </a:p>
        </p:txBody>
      </p:sp>
      <p:sp>
        <p:nvSpPr>
          <p:cNvPr id="3" name="Content Placeholder 2">
            <a:extLst>
              <a:ext uri="{FF2B5EF4-FFF2-40B4-BE49-F238E27FC236}">
                <a16:creationId xmlns:a16="http://schemas.microsoft.com/office/drawing/2014/main" xmlns="" id="{650E071B-784A-E4F4-B9E1-141FFD4BD10E}"/>
              </a:ext>
            </a:extLst>
          </p:cNvPr>
          <p:cNvSpPr>
            <a:spLocks noGrp="1"/>
          </p:cNvSpPr>
          <p:nvPr>
            <p:ph idx="1"/>
          </p:nvPr>
        </p:nvSpPr>
        <p:spPr/>
        <p:txBody>
          <a:bodyPr/>
          <a:lstStyle/>
          <a:p>
            <a:r>
              <a:rPr lang="en-US" b="0" i="0" dirty="0">
                <a:solidFill>
                  <a:srgbClr val="242424"/>
                </a:solidFill>
                <a:effectLst/>
                <a:latin typeface="source-serif-pro"/>
              </a:rPr>
              <a:t>Memory related vulnerabilities are very dangerous. </a:t>
            </a:r>
          </a:p>
          <a:p>
            <a:r>
              <a:rPr lang="en-US" b="0" i="0" dirty="0">
                <a:solidFill>
                  <a:srgbClr val="242424"/>
                </a:solidFill>
                <a:effectLst/>
                <a:latin typeface="source-serif-pro"/>
              </a:rPr>
              <a:t>They are often classified as </a:t>
            </a:r>
            <a:r>
              <a:rPr lang="en-US" b="1" i="0" dirty="0">
                <a:solidFill>
                  <a:srgbClr val="242424"/>
                </a:solidFill>
                <a:effectLst/>
                <a:latin typeface="source-serif-pro"/>
              </a:rPr>
              <a:t>0-days</a:t>
            </a:r>
            <a:r>
              <a:rPr lang="en-US" b="0" i="0" dirty="0">
                <a:solidFill>
                  <a:srgbClr val="242424"/>
                </a:solidFill>
                <a:effectLst/>
                <a:latin typeface="source-serif-pro"/>
              </a:rPr>
              <a:t>. </a:t>
            </a:r>
          </a:p>
          <a:p>
            <a:r>
              <a:rPr lang="en-US" b="0" i="0" dirty="0">
                <a:solidFill>
                  <a:srgbClr val="242424"/>
                </a:solidFill>
                <a:effectLst/>
                <a:latin typeface="source-serif-pro"/>
              </a:rPr>
              <a:t>0-days are vulnerabilities in common software leveraged by malware and viruses. </a:t>
            </a:r>
          </a:p>
          <a:p>
            <a:r>
              <a:rPr lang="en-US" b="0" i="0" dirty="0">
                <a:solidFill>
                  <a:srgbClr val="242424"/>
                </a:solidFill>
                <a:effectLst/>
                <a:latin typeface="source-serif-pro"/>
              </a:rPr>
              <a:t>Essential operating system components and programs such as system services, browsers, crypto libraries and document readers are written in C/C++ and are particularly exposed to these types of flaws.</a:t>
            </a:r>
            <a:endParaRPr lang="en-IN" dirty="0"/>
          </a:p>
        </p:txBody>
      </p:sp>
    </p:spTree>
    <p:extLst>
      <p:ext uri="{BB962C8B-B14F-4D97-AF65-F5344CB8AC3E}">
        <p14:creationId xmlns:p14="http://schemas.microsoft.com/office/powerpoint/2010/main" val="32371195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391F12-39D0-76ED-144B-D7D9D78B7E9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8A28536B-E698-B7DC-BD76-560FE5CA493A}"/>
              </a:ext>
            </a:extLst>
          </p:cNvPr>
          <p:cNvSpPr>
            <a:spLocks noGrp="1"/>
          </p:cNvSpPr>
          <p:nvPr>
            <p:ph idx="1"/>
          </p:nvPr>
        </p:nvSpPr>
        <p:spPr/>
        <p:txBody>
          <a:bodyPr/>
          <a:lstStyle/>
          <a:p>
            <a:pPr marL="0" indent="0" algn="l">
              <a:buNone/>
            </a:pPr>
            <a:r>
              <a:rPr lang="en-US" b="0" i="0" dirty="0">
                <a:solidFill>
                  <a:srgbClr val="242424"/>
                </a:solidFill>
                <a:effectLst/>
                <a:latin typeface="source-serif-pro"/>
              </a:rPr>
              <a:t>There are many </a:t>
            </a:r>
            <a:r>
              <a:rPr lang="en-US" b="0" i="0" dirty="0" err="1">
                <a:solidFill>
                  <a:srgbClr val="242424"/>
                </a:solidFill>
                <a:effectLst/>
                <a:latin typeface="source-serif-pro"/>
              </a:rPr>
              <a:t>flavours</a:t>
            </a:r>
            <a:r>
              <a:rPr lang="en-US" b="0" i="0" dirty="0">
                <a:solidFill>
                  <a:srgbClr val="242424"/>
                </a:solidFill>
                <a:effectLst/>
                <a:latin typeface="source-serif-pro"/>
              </a:rPr>
              <a:t> of memory vulnerabilities but we will focus on the most common mistakes:</a:t>
            </a:r>
          </a:p>
          <a:p>
            <a:pPr algn="l">
              <a:buFont typeface="+mj-lt"/>
              <a:buAutoNum type="arabicPeriod"/>
            </a:pPr>
            <a:r>
              <a:rPr lang="en-US" b="0" i="0" dirty="0">
                <a:solidFill>
                  <a:srgbClr val="242424"/>
                </a:solidFill>
                <a:effectLst/>
                <a:latin typeface="source-serif-pro"/>
              </a:rPr>
              <a:t>Buffer Copy without Checking Size of Input — </a:t>
            </a:r>
            <a:r>
              <a:rPr lang="en-US" b="0" i="0" u="sng" dirty="0">
                <a:solidFill>
                  <a:srgbClr val="242424"/>
                </a:solidFill>
                <a:effectLst/>
                <a:latin typeface="source-serif-pro"/>
                <a:hlinkClick r:id="rId2"/>
              </a:rPr>
              <a:t>CWE 120</a:t>
            </a:r>
            <a:endParaRPr lang="en-US" b="0" i="0" dirty="0">
              <a:solidFill>
                <a:srgbClr val="242424"/>
              </a:solidFill>
              <a:effectLst/>
              <a:latin typeface="source-serif-pro"/>
            </a:endParaRPr>
          </a:p>
          <a:p>
            <a:pPr algn="l">
              <a:buFont typeface="+mj-lt"/>
              <a:buAutoNum type="arabicPeriod"/>
            </a:pPr>
            <a:r>
              <a:rPr lang="en-US" b="0" i="0" dirty="0">
                <a:solidFill>
                  <a:srgbClr val="242424"/>
                </a:solidFill>
                <a:effectLst/>
                <a:latin typeface="source-serif-pro"/>
              </a:rPr>
              <a:t>Incorrect Calculation of Buffer Size — </a:t>
            </a:r>
            <a:r>
              <a:rPr lang="en-US" b="0" i="0" u="sng" dirty="0">
                <a:solidFill>
                  <a:srgbClr val="242424"/>
                </a:solidFill>
                <a:effectLst/>
                <a:latin typeface="source-serif-pro"/>
                <a:hlinkClick r:id="rId3"/>
              </a:rPr>
              <a:t>CWE 131</a:t>
            </a:r>
            <a:endParaRPr lang="en-US" b="0" i="0" dirty="0">
              <a:solidFill>
                <a:srgbClr val="242424"/>
              </a:solidFill>
              <a:effectLst/>
              <a:latin typeface="source-serif-pro"/>
            </a:endParaRPr>
          </a:p>
          <a:p>
            <a:pPr algn="l">
              <a:buFont typeface="+mj-lt"/>
              <a:buAutoNum type="arabicPeriod"/>
            </a:pPr>
            <a:r>
              <a:rPr lang="en-US" b="0" i="0" dirty="0">
                <a:solidFill>
                  <a:srgbClr val="242424"/>
                </a:solidFill>
                <a:effectLst/>
                <a:latin typeface="source-serif-pro"/>
              </a:rPr>
              <a:t>Uncontrolled Format String — </a:t>
            </a:r>
            <a:r>
              <a:rPr lang="en-US" b="0" i="0" u="sng" dirty="0">
                <a:solidFill>
                  <a:srgbClr val="242424"/>
                </a:solidFill>
                <a:effectLst/>
                <a:latin typeface="source-serif-pro"/>
                <a:hlinkClick r:id="rId4"/>
              </a:rPr>
              <a:t>CWE 134</a:t>
            </a:r>
            <a:endParaRPr lang="en-US" b="0" i="0" dirty="0">
              <a:solidFill>
                <a:srgbClr val="242424"/>
              </a:solidFill>
              <a:effectLst/>
              <a:latin typeface="source-serif-pro"/>
            </a:endParaRPr>
          </a:p>
          <a:p>
            <a:pPr algn="l">
              <a:buFont typeface="+mj-lt"/>
              <a:buAutoNum type="arabicPeriod"/>
            </a:pPr>
            <a:r>
              <a:rPr lang="en-US" b="0" i="0" dirty="0">
                <a:solidFill>
                  <a:srgbClr val="242424"/>
                </a:solidFill>
                <a:effectLst/>
                <a:latin typeface="source-serif-pro"/>
              </a:rPr>
              <a:t>Off by One — </a:t>
            </a:r>
            <a:r>
              <a:rPr lang="en-US" b="0" i="0" u="sng" dirty="0">
                <a:solidFill>
                  <a:srgbClr val="242424"/>
                </a:solidFill>
                <a:effectLst/>
                <a:latin typeface="source-serif-pro"/>
                <a:hlinkClick r:id="rId5"/>
              </a:rPr>
              <a:t>CWE 193</a:t>
            </a:r>
            <a:endParaRPr lang="en-US" b="0" i="0" dirty="0">
              <a:solidFill>
                <a:srgbClr val="242424"/>
              </a:solidFill>
              <a:effectLst/>
              <a:latin typeface="source-serif-pro"/>
            </a:endParaRPr>
          </a:p>
          <a:p>
            <a:endParaRPr lang="en-IN" dirty="0"/>
          </a:p>
        </p:txBody>
      </p:sp>
    </p:spTree>
    <p:extLst>
      <p:ext uri="{BB962C8B-B14F-4D97-AF65-F5344CB8AC3E}">
        <p14:creationId xmlns:p14="http://schemas.microsoft.com/office/powerpoint/2010/main" val="14364353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1E4E07-6A5A-0E71-FE3F-FD60023FE2E5}"/>
              </a:ext>
            </a:extLst>
          </p:cNvPr>
          <p:cNvSpPr>
            <a:spLocks noGrp="1"/>
          </p:cNvSpPr>
          <p:nvPr>
            <p:ph type="title"/>
          </p:nvPr>
        </p:nvSpPr>
        <p:spPr/>
        <p:txBody>
          <a:bodyPr>
            <a:normAutofit fontScale="90000"/>
          </a:bodyPr>
          <a:lstStyle/>
          <a:p>
            <a:r>
              <a:rPr lang="en-IN" b="1" i="0" dirty="0">
                <a:solidFill>
                  <a:srgbClr val="242424"/>
                </a:solidFill>
                <a:effectLst/>
                <a:latin typeface="sohne"/>
              </a:rPr>
              <a:t>Memory Overflow </a:t>
            </a:r>
            <a:br>
              <a:rPr lang="en-IN" b="1" i="0" dirty="0">
                <a:solidFill>
                  <a:srgbClr val="242424"/>
                </a:solidFill>
                <a:effectLst/>
                <a:latin typeface="sohne"/>
              </a:rPr>
            </a:br>
            <a:endParaRPr lang="en-IN" dirty="0"/>
          </a:p>
        </p:txBody>
      </p:sp>
      <p:sp>
        <p:nvSpPr>
          <p:cNvPr id="3" name="Content Placeholder 2">
            <a:extLst>
              <a:ext uri="{FF2B5EF4-FFF2-40B4-BE49-F238E27FC236}">
                <a16:creationId xmlns:a16="http://schemas.microsoft.com/office/drawing/2014/main" xmlns="" id="{F839CDCF-AFAC-E615-3789-CE8553A0AE01}"/>
              </a:ext>
            </a:extLst>
          </p:cNvPr>
          <p:cNvSpPr>
            <a:spLocks noGrp="1"/>
          </p:cNvSpPr>
          <p:nvPr>
            <p:ph idx="1"/>
          </p:nvPr>
        </p:nvSpPr>
        <p:spPr>
          <a:xfrm>
            <a:off x="838200" y="1253331"/>
            <a:ext cx="10515600" cy="4351338"/>
          </a:xfrm>
        </p:spPr>
        <p:txBody>
          <a:bodyPr/>
          <a:lstStyle/>
          <a:p>
            <a:r>
              <a:rPr lang="en-US" dirty="0"/>
              <a:t>Imagine the program uses two variables a and b. The contents and length of variable b are controlled by the user.</a:t>
            </a:r>
          </a:p>
          <a:p>
            <a:r>
              <a:rPr lang="en-US" dirty="0"/>
              <a:t>Each variable is intended to store 3 characters. At first variable a contains the string “Hi!”.</a:t>
            </a:r>
            <a:endParaRPr lang="en-IN" dirty="0"/>
          </a:p>
        </p:txBody>
      </p:sp>
      <p:pic>
        <p:nvPicPr>
          <p:cNvPr id="6" name="Picture 5">
            <a:extLst>
              <a:ext uri="{FF2B5EF4-FFF2-40B4-BE49-F238E27FC236}">
                <a16:creationId xmlns:a16="http://schemas.microsoft.com/office/drawing/2014/main" xmlns="" id="{13A901BB-FEF6-37BE-7007-4B475E81A75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1252589" y="3584961"/>
            <a:ext cx="9019982" cy="2348018"/>
          </a:xfrm>
          <a:prstGeom prst="rect">
            <a:avLst/>
          </a:prstGeom>
        </p:spPr>
      </p:pic>
    </p:spTree>
    <p:extLst>
      <p:ext uri="{BB962C8B-B14F-4D97-AF65-F5344CB8AC3E}">
        <p14:creationId xmlns:p14="http://schemas.microsoft.com/office/powerpoint/2010/main" val="20654119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29FBAA-67E0-56F3-C17F-604FBFFA4A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879831C-A646-CF2F-C2A7-D733AAC5FA36}"/>
              </a:ext>
            </a:extLst>
          </p:cNvPr>
          <p:cNvSpPr>
            <a:spLocks noGrp="1"/>
          </p:cNvSpPr>
          <p:nvPr>
            <p:ph idx="1"/>
          </p:nvPr>
        </p:nvSpPr>
        <p:spPr/>
        <p:txBody>
          <a:bodyPr>
            <a:normAutofit/>
          </a:bodyPr>
          <a:lstStyle/>
          <a:p>
            <a:r>
              <a:rPr lang="en-US" dirty="0"/>
              <a:t>If the user enters the string AAAAA (5 As) for variable b the following will happen.</a:t>
            </a:r>
          </a:p>
          <a:p>
            <a:endParaRPr lang="en-US" dirty="0"/>
          </a:p>
          <a:p>
            <a:endParaRPr lang="en-US" dirty="0"/>
          </a:p>
          <a:p>
            <a:endParaRPr lang="en-US" dirty="0"/>
          </a:p>
          <a:p>
            <a:endParaRPr lang="en-US" dirty="0"/>
          </a:p>
          <a:p>
            <a:r>
              <a:rPr lang="en-US" dirty="0"/>
              <a:t>Variable b only had 3 locations reserved for its value plus one for the string terminator \0 . </a:t>
            </a:r>
          </a:p>
          <a:p>
            <a:r>
              <a:rPr lang="en-US" dirty="0"/>
              <a:t>By entering 5 characters the user is now writing into space reserved for variable a.</a:t>
            </a:r>
            <a:endParaRPr lang="en-IN" dirty="0"/>
          </a:p>
        </p:txBody>
      </p:sp>
      <p:pic>
        <p:nvPicPr>
          <p:cNvPr id="6" name="Picture 5">
            <a:extLst>
              <a:ext uri="{FF2B5EF4-FFF2-40B4-BE49-F238E27FC236}">
                <a16:creationId xmlns:a16="http://schemas.microsoft.com/office/drawing/2014/main" xmlns="" id="{A5E47D29-25CF-0D1E-6BB9-800A4C510C0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411622" y="2605087"/>
            <a:ext cx="6419850" cy="1647825"/>
          </a:xfrm>
          <a:prstGeom prst="rect">
            <a:avLst/>
          </a:prstGeom>
        </p:spPr>
      </p:pic>
    </p:spTree>
    <p:extLst>
      <p:ext uri="{BB962C8B-B14F-4D97-AF65-F5344CB8AC3E}">
        <p14:creationId xmlns:p14="http://schemas.microsoft.com/office/powerpoint/2010/main" val="32853054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D8F9EC-6A19-1A03-7B6D-4DBA6018C38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A95ECE25-5966-8F4C-1E93-A42836226080}"/>
              </a:ext>
            </a:extLst>
          </p:cNvPr>
          <p:cNvSpPr>
            <a:spLocks noGrp="1"/>
          </p:cNvSpPr>
          <p:nvPr>
            <p:ph idx="1"/>
          </p:nvPr>
        </p:nvSpPr>
        <p:spPr/>
        <p:txBody>
          <a:bodyPr/>
          <a:lstStyle/>
          <a:p>
            <a:r>
              <a:rPr lang="en-US" dirty="0"/>
              <a:t>Variables are pointers to memory locations. </a:t>
            </a:r>
          </a:p>
          <a:p>
            <a:r>
              <a:rPr lang="en-US" dirty="0"/>
              <a:t>The value of b will now become </a:t>
            </a:r>
            <a:r>
              <a:rPr lang="en-US" dirty="0" err="1"/>
              <a:t>AAAAAi</a:t>
            </a:r>
            <a:r>
              <a:rPr lang="en-US" dirty="0"/>
              <a:t>! while the value of a will become Ai!. </a:t>
            </a:r>
          </a:p>
          <a:p>
            <a:r>
              <a:rPr lang="en-US" dirty="0"/>
              <a:t>If the program outputs the value of b then the attacker will be able to know part of the value of a which is known as a </a:t>
            </a:r>
            <a:r>
              <a:rPr lang="en-US" b="1" dirty="0">
                <a:solidFill>
                  <a:srgbClr val="FF0000"/>
                </a:solidFill>
              </a:rPr>
              <a:t>memory leak</a:t>
            </a:r>
            <a:r>
              <a:rPr lang="en-US" b="1" dirty="0"/>
              <a:t>.</a:t>
            </a:r>
            <a:endParaRPr lang="en-IN" b="1" dirty="0"/>
          </a:p>
        </p:txBody>
      </p:sp>
    </p:spTree>
    <p:extLst>
      <p:ext uri="{BB962C8B-B14F-4D97-AF65-F5344CB8AC3E}">
        <p14:creationId xmlns:p14="http://schemas.microsoft.com/office/powerpoint/2010/main" val="40759561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95850E-EAE6-2D93-3D9D-F50C348A0E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BEBBB82F-6106-CB07-8B09-42E8682C0108}"/>
              </a:ext>
            </a:extLst>
          </p:cNvPr>
          <p:cNvSpPr>
            <a:spLocks noGrp="1"/>
          </p:cNvSpPr>
          <p:nvPr>
            <p:ph idx="1"/>
          </p:nvPr>
        </p:nvSpPr>
        <p:spPr/>
        <p:txBody>
          <a:bodyPr/>
          <a:lstStyle/>
          <a:p>
            <a:r>
              <a:rPr lang="en-US" b="0" i="0" dirty="0">
                <a:solidFill>
                  <a:srgbClr val="242424"/>
                </a:solidFill>
                <a:effectLst/>
                <a:latin typeface="source-serif-pro"/>
              </a:rPr>
              <a:t>If the user enters a sufficiently long value, they will hit the instruction area and alter the program code.</a:t>
            </a:r>
          </a:p>
          <a:p>
            <a:endParaRPr lang="en-IN" b="1" dirty="0"/>
          </a:p>
        </p:txBody>
      </p:sp>
      <p:pic>
        <p:nvPicPr>
          <p:cNvPr id="5" name="Picture 4">
            <a:extLst>
              <a:ext uri="{FF2B5EF4-FFF2-40B4-BE49-F238E27FC236}">
                <a16:creationId xmlns:a16="http://schemas.microsoft.com/office/drawing/2014/main" xmlns="" id="{BF1C21DF-1CA2-57AC-4850-70CD9F97845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192907" y="3163468"/>
            <a:ext cx="6667500" cy="1514475"/>
          </a:xfrm>
          <a:prstGeom prst="rect">
            <a:avLst/>
          </a:prstGeom>
        </p:spPr>
      </p:pic>
    </p:spTree>
    <p:extLst>
      <p:ext uri="{BB962C8B-B14F-4D97-AF65-F5344CB8AC3E}">
        <p14:creationId xmlns:p14="http://schemas.microsoft.com/office/powerpoint/2010/main" val="34439662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F13630-F4C2-C7CA-9974-184E6D6765A9}"/>
              </a:ext>
            </a:extLst>
          </p:cNvPr>
          <p:cNvSpPr>
            <a:spLocks noGrp="1"/>
          </p:cNvSpPr>
          <p:nvPr>
            <p:ph type="title"/>
          </p:nvPr>
        </p:nvSpPr>
        <p:spPr/>
        <p:txBody>
          <a:bodyPr>
            <a:normAutofit fontScale="90000"/>
          </a:bodyPr>
          <a:lstStyle/>
          <a:p>
            <a:r>
              <a:rPr lang="en-IN" b="1" i="0" dirty="0">
                <a:solidFill>
                  <a:srgbClr val="242424"/>
                </a:solidFill>
                <a:effectLst/>
                <a:latin typeface="sohne"/>
              </a:rPr>
              <a:t>Memory </a:t>
            </a:r>
            <a:r>
              <a:rPr lang="en-IN" b="1" i="0" dirty="0" err="1">
                <a:solidFill>
                  <a:srgbClr val="242424"/>
                </a:solidFill>
                <a:effectLst/>
                <a:latin typeface="sohne"/>
              </a:rPr>
              <a:t>SafeR</a:t>
            </a:r>
            <a:r>
              <a:rPr lang="en-IN" b="1" i="0" dirty="0">
                <a:solidFill>
                  <a:srgbClr val="242424"/>
                </a:solidFill>
                <a:effectLst/>
                <a:latin typeface="sohne"/>
              </a:rPr>
              <a:t> Functions</a:t>
            </a:r>
            <a:br>
              <a:rPr lang="en-IN" b="1" i="0" dirty="0">
                <a:solidFill>
                  <a:srgbClr val="242424"/>
                </a:solidFill>
                <a:effectLst/>
                <a:latin typeface="sohne"/>
              </a:rPr>
            </a:br>
            <a:endParaRPr lang="en-IN" dirty="0"/>
          </a:p>
        </p:txBody>
      </p:sp>
      <p:sp>
        <p:nvSpPr>
          <p:cNvPr id="3" name="Content Placeholder 2">
            <a:extLst>
              <a:ext uri="{FF2B5EF4-FFF2-40B4-BE49-F238E27FC236}">
                <a16:creationId xmlns:a16="http://schemas.microsoft.com/office/drawing/2014/main" xmlns="" id="{01F71CD7-D96E-B1C1-1C4B-A4C4352DE4AA}"/>
              </a:ext>
            </a:extLst>
          </p:cNvPr>
          <p:cNvSpPr>
            <a:spLocks noGrp="1"/>
          </p:cNvSpPr>
          <p:nvPr>
            <p:ph idx="1"/>
          </p:nvPr>
        </p:nvSpPr>
        <p:spPr/>
        <p:txBody>
          <a:bodyPr/>
          <a:lstStyle/>
          <a:p>
            <a:r>
              <a:rPr lang="en-US" b="0" i="0" dirty="0">
                <a:solidFill>
                  <a:srgbClr val="242424"/>
                </a:solidFill>
                <a:effectLst/>
                <a:latin typeface="source-serif-pro"/>
              </a:rPr>
              <a:t>Overflow can be prevented by controlling the number of characters read into the buffer. </a:t>
            </a:r>
          </a:p>
          <a:p>
            <a:r>
              <a:rPr lang="en-US" b="0" i="0" dirty="0">
                <a:solidFill>
                  <a:srgbClr val="242424"/>
                </a:solidFill>
                <a:effectLst/>
                <a:latin typeface="source-serif-pro"/>
              </a:rPr>
              <a:t>This is done using memory safe functions.</a:t>
            </a:r>
          </a:p>
          <a:p>
            <a:r>
              <a:rPr lang="en-US" b="0" i="0" dirty="0">
                <a:solidFill>
                  <a:srgbClr val="242424"/>
                </a:solidFill>
                <a:effectLst/>
                <a:latin typeface="source-serif-pro"/>
              </a:rPr>
              <a:t> It is important to note that simply using these functions will not prevent overflow. </a:t>
            </a:r>
            <a:r>
              <a:rPr lang="en-US" b="0" i="0" dirty="0">
                <a:solidFill>
                  <a:srgbClr val="FF0000"/>
                </a:solidFill>
                <a:effectLst/>
                <a:latin typeface="source-serif-pro"/>
              </a:rPr>
              <a:t>They also must be used correctly</a:t>
            </a:r>
            <a:r>
              <a:rPr lang="en-IN" b="0" i="0" dirty="0">
                <a:solidFill>
                  <a:srgbClr val="FF0000"/>
                </a:solidFill>
                <a:effectLst/>
                <a:latin typeface="source-serif-pro"/>
              </a:rPr>
              <a:t>.</a:t>
            </a:r>
            <a:endParaRPr lang="en-US" b="0" i="0" dirty="0">
              <a:solidFill>
                <a:srgbClr val="FF0000"/>
              </a:solidFill>
              <a:effectLst/>
              <a:latin typeface="source-serif-pro"/>
            </a:endParaRPr>
          </a:p>
        </p:txBody>
      </p:sp>
    </p:spTree>
    <p:extLst>
      <p:ext uri="{BB962C8B-B14F-4D97-AF65-F5344CB8AC3E}">
        <p14:creationId xmlns:p14="http://schemas.microsoft.com/office/powerpoint/2010/main" val="35549309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C7497A2-9A69-8E0C-3D82-C4C374816187}"/>
              </a:ext>
            </a:extLst>
          </p:cNvPr>
          <p:cNvSpPr>
            <a:spLocks noGrp="1"/>
          </p:cNvSpPr>
          <p:nvPr>
            <p:ph idx="1"/>
          </p:nvPr>
        </p:nvSpPr>
        <p:spPr>
          <a:xfrm>
            <a:off x="605286" y="704191"/>
            <a:ext cx="10515600" cy="4351338"/>
          </a:xfrm>
        </p:spPr>
        <p:txBody>
          <a:bodyPr>
            <a:noAutofit/>
          </a:bodyPr>
          <a:lstStyle/>
          <a:p>
            <a:pPr marL="109728" indent="0">
              <a:buNone/>
            </a:pPr>
            <a:r>
              <a:rPr lang="en-US" sz="2400" dirty="0">
                <a:solidFill>
                  <a:srgbClr val="242424"/>
                </a:solidFill>
                <a:latin typeface="source-serif-pro"/>
              </a:rPr>
              <a:t>There are several ways to prevent this issue, some of which depend on our compiler or OS and kernel features. </a:t>
            </a:r>
            <a:endParaRPr lang="en-US" sz="2400" dirty="0" smtClean="0">
              <a:solidFill>
                <a:srgbClr val="242424"/>
              </a:solidFill>
              <a:latin typeface="source-serif-pro"/>
            </a:endParaRPr>
          </a:p>
          <a:p>
            <a:pPr marL="109728" indent="0">
              <a:buNone/>
            </a:pPr>
            <a:endParaRPr lang="en-US" sz="2400" dirty="0" smtClean="0">
              <a:solidFill>
                <a:srgbClr val="242424"/>
              </a:solidFill>
              <a:latin typeface="source-serif-pro"/>
            </a:endParaRPr>
          </a:p>
          <a:p>
            <a:r>
              <a:rPr lang="en-US" sz="2400" dirty="0" smtClean="0">
                <a:solidFill>
                  <a:srgbClr val="242424"/>
                </a:solidFill>
                <a:latin typeface="source-serif-pro"/>
              </a:rPr>
              <a:t>The </a:t>
            </a:r>
            <a:r>
              <a:rPr lang="en-US" sz="2400" dirty="0">
                <a:solidFill>
                  <a:srgbClr val="242424"/>
                </a:solidFill>
                <a:latin typeface="source-serif-pro"/>
              </a:rPr>
              <a:t>main tools we can use to secure our data are </a:t>
            </a:r>
            <a:endParaRPr lang="en-US" sz="2400" dirty="0" smtClean="0">
              <a:solidFill>
                <a:srgbClr val="242424"/>
              </a:solidFill>
              <a:latin typeface="source-serif-pro"/>
            </a:endParaRPr>
          </a:p>
          <a:p>
            <a:pPr lvl="1"/>
            <a:r>
              <a:rPr lang="en-US" sz="2400" dirty="0" smtClean="0">
                <a:solidFill>
                  <a:srgbClr val="242424"/>
                </a:solidFill>
                <a:latin typeface="source-serif-pro"/>
              </a:rPr>
              <a:t>stack </a:t>
            </a:r>
            <a:r>
              <a:rPr lang="en-US" sz="2400" dirty="0">
                <a:solidFill>
                  <a:srgbClr val="242424"/>
                </a:solidFill>
                <a:latin typeface="source-serif-pro"/>
              </a:rPr>
              <a:t>canaries, </a:t>
            </a:r>
            <a:endParaRPr lang="en-US" sz="2400" dirty="0" smtClean="0">
              <a:solidFill>
                <a:srgbClr val="242424"/>
              </a:solidFill>
              <a:latin typeface="source-serif-pro"/>
            </a:endParaRPr>
          </a:p>
          <a:p>
            <a:pPr lvl="1"/>
            <a:r>
              <a:rPr lang="en-US" sz="2400" dirty="0" smtClean="0">
                <a:solidFill>
                  <a:srgbClr val="242424"/>
                </a:solidFill>
                <a:latin typeface="source-serif-pro"/>
              </a:rPr>
              <a:t>address </a:t>
            </a:r>
            <a:r>
              <a:rPr lang="en-US" sz="2400" dirty="0">
                <a:solidFill>
                  <a:srgbClr val="242424"/>
                </a:solidFill>
                <a:latin typeface="source-serif-pro"/>
              </a:rPr>
              <a:t>space layout randomization (ASLR</a:t>
            </a:r>
            <a:r>
              <a:rPr lang="en-US" sz="2400" dirty="0" smtClean="0">
                <a:solidFill>
                  <a:srgbClr val="242424"/>
                </a:solidFill>
                <a:latin typeface="source-serif-pro"/>
              </a:rPr>
              <a:t>),</a:t>
            </a:r>
          </a:p>
          <a:p>
            <a:pPr lvl="1"/>
            <a:r>
              <a:rPr lang="en-US" sz="2400" dirty="0" smtClean="0">
                <a:solidFill>
                  <a:srgbClr val="242424"/>
                </a:solidFill>
                <a:latin typeface="source-serif-pro"/>
              </a:rPr>
              <a:t>data </a:t>
            </a:r>
            <a:r>
              <a:rPr lang="en-US" sz="2400" dirty="0">
                <a:solidFill>
                  <a:srgbClr val="242424"/>
                </a:solidFill>
                <a:latin typeface="source-serif-pro"/>
              </a:rPr>
              <a:t>execution prevention (DEP</a:t>
            </a:r>
            <a:r>
              <a:rPr lang="en-US" sz="2400" dirty="0" smtClean="0">
                <a:solidFill>
                  <a:srgbClr val="242424"/>
                </a:solidFill>
                <a:latin typeface="source-serif-pro"/>
              </a:rPr>
              <a:t>).</a:t>
            </a:r>
            <a:endParaRPr lang="en-US" sz="2400" dirty="0">
              <a:solidFill>
                <a:srgbClr val="242424"/>
              </a:solidFill>
              <a:latin typeface="source-serif-pro"/>
            </a:endParaRPr>
          </a:p>
        </p:txBody>
      </p:sp>
    </p:spTree>
    <p:extLst>
      <p:ext uri="{BB962C8B-B14F-4D97-AF65-F5344CB8AC3E}">
        <p14:creationId xmlns:p14="http://schemas.microsoft.com/office/powerpoint/2010/main" val="35862709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800" b="1" dirty="0">
                <a:solidFill>
                  <a:srgbClr val="242424"/>
                </a:solidFill>
                <a:latin typeface="source-serif-pro"/>
              </a:rPr>
              <a:t>Stack canaries</a:t>
            </a:r>
            <a:r>
              <a:rPr lang="en-US" sz="2800" dirty="0">
                <a:solidFill>
                  <a:srgbClr val="242424"/>
                </a:solidFill>
                <a:latin typeface="source-serif-pro"/>
              </a:rPr>
              <a:t> add a new, randomly selected secret value to the stack every time a program starts. Before a function returns, this value is verified.</a:t>
            </a:r>
          </a:p>
          <a:p>
            <a:r>
              <a:rPr lang="en-US" sz="2800" b="1" dirty="0">
                <a:solidFill>
                  <a:srgbClr val="242424"/>
                </a:solidFill>
                <a:latin typeface="source-serif-pro"/>
              </a:rPr>
              <a:t>ASLR</a:t>
            </a:r>
            <a:r>
              <a:rPr lang="en-US" sz="2800" dirty="0">
                <a:solidFill>
                  <a:srgbClr val="242424"/>
                </a:solidFill>
                <a:latin typeface="source-serif-pro"/>
              </a:rPr>
              <a:t> prevents an attacker from knowing the memory layout, making it challenging to perform the buffer overflow attack. If the attacker doesn’t know where the data resides in memory, they won’t know which buffer to attack.</a:t>
            </a:r>
          </a:p>
          <a:p>
            <a:r>
              <a:rPr lang="en-US" sz="2800" b="1" dirty="0">
                <a:solidFill>
                  <a:srgbClr val="242424"/>
                </a:solidFill>
                <a:latin typeface="source-serif-pro"/>
              </a:rPr>
              <a:t>DEP</a:t>
            </a:r>
            <a:r>
              <a:rPr lang="en-US" sz="2800" dirty="0">
                <a:solidFill>
                  <a:srgbClr val="242424"/>
                </a:solidFill>
                <a:latin typeface="source-serif-pro"/>
              </a:rPr>
              <a:t> marks certain memory areas, like the stack, as non-executable memory.</a:t>
            </a:r>
          </a:p>
          <a:p>
            <a:pPr marL="109728" indent="0">
              <a:buNone/>
            </a:pPr>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1834194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A438C4-78B6-7AFE-32AF-7296D3D366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0E061950-C903-B67B-089E-E0EF7A382A96}"/>
              </a:ext>
            </a:extLst>
          </p:cNvPr>
          <p:cNvSpPr>
            <a:spLocks noGrp="1"/>
          </p:cNvSpPr>
          <p:nvPr>
            <p:ph idx="1"/>
          </p:nvPr>
        </p:nvSpPr>
        <p:spPr/>
        <p:txBody>
          <a:bodyPr/>
          <a:lstStyle/>
          <a:p>
            <a:pPr marL="0" indent="0">
              <a:buNone/>
            </a:pPr>
            <a:r>
              <a:rPr lang="en-US" dirty="0"/>
              <a:t>In addition to using OS and compiler features, we must implement good coding practices, including </a:t>
            </a:r>
            <a:r>
              <a:rPr lang="en-US" dirty="0">
                <a:solidFill>
                  <a:srgbClr val="FF0000"/>
                </a:solidFill>
              </a:rPr>
              <a:t>bounds checking</a:t>
            </a:r>
            <a:r>
              <a:rPr lang="en-US" dirty="0"/>
              <a:t>. </a:t>
            </a:r>
          </a:p>
          <a:p>
            <a:pPr marL="0" indent="0">
              <a:buNone/>
            </a:pPr>
            <a:endParaRPr lang="en-US" dirty="0"/>
          </a:p>
          <a:p>
            <a:pPr marL="0" indent="0">
              <a:buNone/>
            </a:pPr>
            <a:r>
              <a:rPr lang="en-US" dirty="0"/>
              <a:t>We should avoid using standard library functions vulnerable to buffer overflow attacks, such as </a:t>
            </a:r>
            <a:r>
              <a:rPr lang="en-US" dirty="0">
                <a:solidFill>
                  <a:srgbClr val="FF0000"/>
                </a:solidFill>
              </a:rPr>
              <a:t>get, </a:t>
            </a:r>
            <a:r>
              <a:rPr lang="en-US" dirty="0" err="1">
                <a:solidFill>
                  <a:srgbClr val="FF0000"/>
                </a:solidFill>
              </a:rPr>
              <a:t>strcpy</a:t>
            </a:r>
            <a:r>
              <a:rPr lang="en-US" dirty="0">
                <a:solidFill>
                  <a:srgbClr val="FF0000"/>
                </a:solidFill>
              </a:rPr>
              <a:t>, </a:t>
            </a:r>
            <a:r>
              <a:rPr lang="en-US" dirty="0" err="1">
                <a:solidFill>
                  <a:srgbClr val="FF0000"/>
                </a:solidFill>
              </a:rPr>
              <a:t>strcat</a:t>
            </a:r>
            <a:r>
              <a:rPr lang="en-US" dirty="0">
                <a:solidFill>
                  <a:srgbClr val="FF0000"/>
                </a:solidFill>
              </a:rPr>
              <a:t>, </a:t>
            </a:r>
            <a:r>
              <a:rPr lang="en-US" dirty="0" err="1">
                <a:solidFill>
                  <a:srgbClr val="FF0000"/>
                </a:solidFill>
              </a:rPr>
              <a:t>scanf</a:t>
            </a:r>
            <a:r>
              <a:rPr lang="en-US" dirty="0">
                <a:solidFill>
                  <a:srgbClr val="FF0000"/>
                </a:solidFill>
              </a:rPr>
              <a:t>, and </a:t>
            </a:r>
            <a:r>
              <a:rPr lang="en-US" dirty="0" err="1">
                <a:solidFill>
                  <a:srgbClr val="FF0000"/>
                </a:solidFill>
              </a:rPr>
              <a:t>printf</a:t>
            </a:r>
            <a:r>
              <a:rPr lang="en-US" dirty="0"/>
              <a:t>, as they don’t perform bounds checking. Instead, we should replace them with equivalent secure functions, like </a:t>
            </a:r>
            <a:r>
              <a:rPr lang="en-US" dirty="0" err="1">
                <a:solidFill>
                  <a:srgbClr val="FF0000"/>
                </a:solidFill>
              </a:rPr>
              <a:t>fgets</a:t>
            </a:r>
            <a:r>
              <a:rPr lang="en-US" dirty="0">
                <a:solidFill>
                  <a:srgbClr val="FF0000"/>
                </a:solidFill>
              </a:rPr>
              <a:t>.</a:t>
            </a:r>
            <a:endParaRPr lang="en-IN" dirty="0">
              <a:solidFill>
                <a:srgbClr val="FF0000"/>
              </a:solidFill>
            </a:endParaRPr>
          </a:p>
          <a:p>
            <a:endParaRPr lang="en-IN" dirty="0"/>
          </a:p>
        </p:txBody>
      </p:sp>
    </p:spTree>
    <p:extLst>
      <p:ext uri="{BB962C8B-B14F-4D97-AF65-F5344CB8AC3E}">
        <p14:creationId xmlns:p14="http://schemas.microsoft.com/office/powerpoint/2010/main" val="2280879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3F0A97-A495-319F-D3F3-CD123B5C38A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E98BF25C-3EC6-7A9B-09C4-0157C5FA1D87}"/>
              </a:ext>
            </a:extLst>
          </p:cNvPr>
          <p:cNvSpPr>
            <a:spLocks noGrp="1"/>
          </p:cNvSpPr>
          <p:nvPr>
            <p:ph idx="1"/>
          </p:nvPr>
        </p:nvSpPr>
        <p:spPr/>
        <p:txBody>
          <a:bodyPr/>
          <a:lstStyle/>
          <a:p>
            <a:r>
              <a:rPr lang="en-US" dirty="0"/>
              <a:t>Several functions that allow the program to limit the size of the value read into a buffer: </a:t>
            </a:r>
            <a:r>
              <a:rPr lang="en-US" dirty="0" err="1">
                <a:solidFill>
                  <a:srgbClr val="FF0000"/>
                </a:solidFill>
              </a:rPr>
              <a:t>fgets</a:t>
            </a:r>
            <a:r>
              <a:rPr lang="en-US" dirty="0">
                <a:solidFill>
                  <a:srgbClr val="FF0000"/>
                </a:solidFill>
              </a:rPr>
              <a:t>, </a:t>
            </a:r>
            <a:r>
              <a:rPr lang="en-US" dirty="0" err="1">
                <a:solidFill>
                  <a:srgbClr val="FF0000"/>
                </a:solidFill>
              </a:rPr>
              <a:t>snprintf</a:t>
            </a:r>
            <a:r>
              <a:rPr lang="en-US" dirty="0">
                <a:solidFill>
                  <a:srgbClr val="FF0000"/>
                </a:solidFill>
              </a:rPr>
              <a:t>, </a:t>
            </a:r>
            <a:r>
              <a:rPr lang="en-US" dirty="0" err="1">
                <a:solidFill>
                  <a:srgbClr val="FF0000"/>
                </a:solidFill>
              </a:rPr>
              <a:t>strncpy</a:t>
            </a:r>
            <a:r>
              <a:rPr lang="en-US" dirty="0">
                <a:solidFill>
                  <a:srgbClr val="FF0000"/>
                </a:solidFill>
              </a:rPr>
              <a:t>, </a:t>
            </a:r>
            <a:r>
              <a:rPr lang="en-US" dirty="0" err="1">
                <a:solidFill>
                  <a:srgbClr val="FF0000"/>
                </a:solidFill>
              </a:rPr>
              <a:t>strncmp</a:t>
            </a:r>
            <a:endParaRPr lang="en-US" dirty="0">
              <a:solidFill>
                <a:srgbClr val="FF0000"/>
              </a:solidFill>
            </a:endParaRPr>
          </a:p>
          <a:p>
            <a:endParaRPr lang="en-IN" dirty="0">
              <a:solidFill>
                <a:srgbClr val="FF0000"/>
              </a:solidFill>
            </a:endParaRPr>
          </a:p>
        </p:txBody>
      </p:sp>
      <p:pic>
        <p:nvPicPr>
          <p:cNvPr id="6" name="Picture 5">
            <a:extLst>
              <a:ext uri="{FF2B5EF4-FFF2-40B4-BE49-F238E27FC236}">
                <a16:creationId xmlns:a16="http://schemas.microsoft.com/office/drawing/2014/main" xmlns="" id="{D51581B5-441A-EBD0-1D7B-08AE5B86612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855343" y="3163288"/>
            <a:ext cx="5304795" cy="2325536"/>
          </a:xfrm>
          <a:prstGeom prst="rect">
            <a:avLst/>
          </a:prstGeom>
        </p:spPr>
      </p:pic>
    </p:spTree>
    <p:extLst>
      <p:ext uri="{BB962C8B-B14F-4D97-AF65-F5344CB8AC3E}">
        <p14:creationId xmlns:p14="http://schemas.microsoft.com/office/powerpoint/2010/main" val="7223716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p:txBody>
          <a:bodyPr>
            <a:normAutofit/>
          </a:bodyPr>
          <a:lstStyle/>
          <a:p>
            <a:r>
              <a:rPr lang="en-US" sz="2400" b="0" i="0" dirty="0">
                <a:effectLst/>
                <a:latin typeface="Times New Roman" pitchFamily="18" charset="0"/>
                <a:cs typeface="Times New Roman" pitchFamily="18" charset="0"/>
              </a:rPr>
              <a:t>One of the most common security concerns with C++ is a buffer overflow. </a:t>
            </a:r>
          </a:p>
          <a:p>
            <a:endParaRPr lang="en-US" sz="2400" b="0" i="0" dirty="0" smtClean="0">
              <a:effectLst/>
              <a:latin typeface="Times New Roman" pitchFamily="18" charset="0"/>
              <a:cs typeface="Times New Roman" pitchFamily="18" charset="0"/>
            </a:endParaRPr>
          </a:p>
          <a:p>
            <a:r>
              <a:rPr lang="en-US" sz="2400" b="0" i="0" dirty="0" smtClean="0">
                <a:effectLst/>
                <a:latin typeface="Times New Roman" pitchFamily="18" charset="0"/>
                <a:cs typeface="Times New Roman" pitchFamily="18" charset="0"/>
              </a:rPr>
              <a:t>Buffer </a:t>
            </a:r>
            <a:r>
              <a:rPr lang="en-US" sz="2400" b="0" i="0" dirty="0">
                <a:effectLst/>
                <a:latin typeface="Times New Roman" pitchFamily="18" charset="0"/>
                <a:cs typeface="Times New Roman" pitchFamily="18" charset="0"/>
              </a:rPr>
              <a:t>overflows are caused by not having built-in boundary check features in C++, which reduce the risk of overwriting memory. </a:t>
            </a:r>
          </a:p>
          <a:p>
            <a:endParaRPr lang="en-US" sz="2400" b="0" i="0" dirty="0" smtClean="0">
              <a:effectLst/>
              <a:latin typeface="Times New Roman" pitchFamily="18" charset="0"/>
              <a:cs typeface="Times New Roman" pitchFamily="18" charset="0"/>
            </a:endParaRPr>
          </a:p>
          <a:p>
            <a:r>
              <a:rPr lang="en-US" sz="2400" b="0" i="0" dirty="0" smtClean="0">
                <a:effectLst/>
                <a:latin typeface="Times New Roman" pitchFamily="18" charset="0"/>
                <a:cs typeface="Times New Roman" pitchFamily="18" charset="0"/>
              </a:rPr>
              <a:t>Writing </a:t>
            </a:r>
            <a:r>
              <a:rPr lang="en-US" sz="2400" b="0" i="0" dirty="0">
                <a:effectLst/>
                <a:latin typeface="Times New Roman" pitchFamily="18" charset="0"/>
                <a:cs typeface="Times New Roman" pitchFamily="18" charset="0"/>
              </a:rPr>
              <a:t>outside our allocated memory can cause program crashes and corrupt data. </a:t>
            </a:r>
          </a:p>
          <a:p>
            <a:endParaRPr lang="en-US" sz="2400" b="0" i="0" dirty="0" smtClean="0">
              <a:effectLst/>
              <a:latin typeface="Times New Roman" pitchFamily="18" charset="0"/>
              <a:cs typeface="Times New Roman" pitchFamily="18" charset="0"/>
            </a:endParaRPr>
          </a:p>
          <a:p>
            <a:r>
              <a:rPr lang="en-US" sz="2400" b="0" i="0" dirty="0" smtClean="0">
                <a:effectLst/>
                <a:latin typeface="Times New Roman" pitchFamily="18" charset="0"/>
                <a:cs typeface="Times New Roman" pitchFamily="18" charset="0"/>
              </a:rPr>
              <a:t>It </a:t>
            </a:r>
            <a:r>
              <a:rPr lang="en-US" sz="2400" b="0" i="0" dirty="0">
                <a:effectLst/>
                <a:latin typeface="Times New Roman" pitchFamily="18" charset="0"/>
                <a:cs typeface="Times New Roman" pitchFamily="18" charset="0"/>
              </a:rPr>
              <a:t>can even lead to the execution of malicious code. </a:t>
            </a:r>
          </a:p>
          <a:p>
            <a:endParaRPr lang="en-US" sz="2400" b="0" i="0" dirty="0" smtClean="0">
              <a:effectLst/>
              <a:latin typeface="Times New Roman" pitchFamily="18" charset="0"/>
              <a:cs typeface="Times New Roman" pitchFamily="18" charset="0"/>
            </a:endParaRPr>
          </a:p>
          <a:p>
            <a:r>
              <a:rPr lang="en-US" sz="2400" b="0" i="0" dirty="0" smtClean="0">
                <a:effectLst/>
                <a:latin typeface="Times New Roman" pitchFamily="18" charset="0"/>
                <a:cs typeface="Times New Roman" pitchFamily="18" charset="0"/>
              </a:rPr>
              <a:t>As </a:t>
            </a:r>
            <a:r>
              <a:rPr lang="en-US" sz="2400" b="0" i="0" dirty="0">
                <a:effectLst/>
                <a:latin typeface="Times New Roman" pitchFamily="18" charset="0"/>
                <a:cs typeface="Times New Roman" pitchFamily="18" charset="0"/>
              </a:rPr>
              <a:t>a result, buffer overflow ranked as the most dangerous software weakness in the </a:t>
            </a:r>
            <a:r>
              <a:rPr lang="en-US" sz="2400" i="0" dirty="0">
                <a:effectLst/>
                <a:latin typeface="Times New Roman" pitchFamily="18" charset="0"/>
                <a:cs typeface="Times New Roman" pitchFamily="18" charset="0"/>
              </a:rPr>
              <a:t>2021 CWE Top 25 Most Dangerous Software Weaknesses</a:t>
            </a:r>
            <a:r>
              <a:rPr lang="en-US" sz="2400" b="0" i="0" dirty="0">
                <a:effectLst/>
                <a:latin typeface="Times New Roman" pitchFamily="18" charset="0"/>
                <a:cs typeface="Times New Roman" pitchFamily="18" charset="0"/>
              </a:rPr>
              <a:t> survey.</a:t>
            </a:r>
            <a:endParaRPr lang="en-IN" sz="2400" dirty="0">
              <a:latin typeface="Times New Roman" pitchFamily="18" charset="0"/>
              <a:cs typeface="Times New Roman" pitchFamily="18" charset="0"/>
            </a:endParaRP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IN" b="1" i="0" dirty="0">
                <a:solidFill>
                  <a:srgbClr val="030328"/>
                </a:solidFill>
                <a:effectLst/>
                <a:latin typeface="Poppins" panose="00000500000000000000" pitchFamily="2" charset="0"/>
              </a:rPr>
              <a:t>1</a:t>
            </a:r>
            <a:r>
              <a:rPr lang="en-IN" sz="4000" b="1" i="0" dirty="0">
                <a:solidFill>
                  <a:srgbClr val="030328"/>
                </a:solidFill>
                <a:effectLst/>
                <a:latin typeface="Times New Roman" pitchFamily="18" charset="0"/>
                <a:cs typeface="Times New Roman" pitchFamily="18" charset="0"/>
              </a:rPr>
              <a:t>. Buffer </a:t>
            </a:r>
            <a:r>
              <a:rPr lang="en-IN" sz="4000" b="1" i="0" dirty="0" smtClean="0">
                <a:solidFill>
                  <a:srgbClr val="030328"/>
                </a:solidFill>
                <a:effectLst/>
                <a:latin typeface="Times New Roman" pitchFamily="18" charset="0"/>
                <a:cs typeface="Times New Roman" pitchFamily="18" charset="0"/>
              </a:rPr>
              <a:t>overflow</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25137" y="1551305"/>
            <a:ext cx="10515600" cy="813072"/>
          </a:xfrm>
        </p:spPr>
        <p:txBody>
          <a:bodyPr>
            <a:normAutofit lnSpcReduction="10000"/>
          </a:bodyPr>
          <a:lstStyle/>
          <a:p>
            <a:pPr lvl="0"/>
            <a:r>
              <a:rPr lang="en-US" altLang="en-US" sz="2400" dirty="0" smtClean="0">
                <a:latin typeface="Times New Roman" pitchFamily="18" charset="0"/>
                <a:cs typeface="Times New Roman" pitchFamily="18" charset="0"/>
              </a:rPr>
              <a:t>In the following code snippet, we get user input using the gets function and check to see if it affected the important_data variable. </a:t>
            </a:r>
            <a:endParaRPr lang="en-US" altLang="en-US" sz="2400" dirty="0">
              <a:latin typeface="Times New Roman" pitchFamily="18" charset="0"/>
              <a:cs typeface="Times New Roman" pitchFamily="18" charset="0"/>
            </a:endParaRP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IN" b="1" i="0" dirty="0">
                <a:solidFill>
                  <a:srgbClr val="030328"/>
                </a:solidFill>
                <a:effectLst/>
                <a:latin typeface="Poppins" panose="00000500000000000000" pitchFamily="2" charset="0"/>
              </a:rPr>
              <a:t>1</a:t>
            </a:r>
            <a:r>
              <a:rPr lang="en-IN" sz="4000" b="1" i="0" dirty="0">
                <a:solidFill>
                  <a:srgbClr val="030328"/>
                </a:solidFill>
                <a:effectLst/>
                <a:latin typeface="Times New Roman" pitchFamily="18" charset="0"/>
                <a:cs typeface="Times New Roman" pitchFamily="18" charset="0"/>
              </a:rPr>
              <a:t>. Buffer </a:t>
            </a:r>
            <a:r>
              <a:rPr lang="en-IN" sz="4000" b="1" i="0" dirty="0" smtClean="0">
                <a:solidFill>
                  <a:srgbClr val="030328"/>
                </a:solidFill>
                <a:effectLst/>
                <a:latin typeface="Times New Roman" pitchFamily="18" charset="0"/>
                <a:cs typeface="Times New Roman" pitchFamily="18" charset="0"/>
              </a:rPr>
              <a:t>overflow (Cont.,)</a:t>
            </a:r>
            <a:endParaRPr lang="en-IN" dirty="0">
              <a:latin typeface="Times New Roman" pitchFamily="18" charset="0"/>
              <a:cs typeface="Times New Roman" pitchFamily="18" charset="0"/>
            </a:endParaRPr>
          </a:p>
        </p:txBody>
      </p:sp>
      <p:pic>
        <p:nvPicPr>
          <p:cNvPr id="4" name="Content Placeholder 4">
            <a:extLst>
              <a:ext uri="{FF2B5EF4-FFF2-40B4-BE49-F238E27FC236}">
                <a16:creationId xmlns="" xmlns:a16="http://schemas.microsoft.com/office/drawing/2014/main" id="{341757F7-CDBF-AA21-0176-D6F7BB2C963D}"/>
              </a:ext>
            </a:extLst>
          </p:cNvPr>
          <p:cNvPicPr>
            <a:picLocks noChangeAspect="1"/>
          </p:cNvPicPr>
          <p:nvPr/>
        </p:nvPicPr>
        <p:blipFill>
          <a:blip r:embed="rId2" cstate="print"/>
          <a:stretch>
            <a:fillRect/>
          </a:stretch>
        </p:blipFill>
        <p:spPr>
          <a:xfrm>
            <a:off x="1541417" y="2374448"/>
            <a:ext cx="9222377" cy="2693942"/>
          </a:xfrm>
          <a:prstGeom prst="rect">
            <a:avLst/>
          </a:prstGeom>
        </p:spPr>
      </p:pic>
      <p:sp>
        <p:nvSpPr>
          <p:cNvPr id="5" name="Content Placeholder 2">
            <a:extLst>
              <a:ext uri="{FF2B5EF4-FFF2-40B4-BE49-F238E27FC236}">
                <a16:creationId xmlns="" xmlns:a16="http://schemas.microsoft.com/office/drawing/2014/main" id="{FA2F8C9F-6986-CF8C-7CFE-9616271CA187}"/>
              </a:ext>
            </a:extLst>
          </p:cNvPr>
          <p:cNvSpPr txBox="1">
            <a:spLocks/>
          </p:cNvSpPr>
          <p:nvPr/>
        </p:nvSpPr>
        <p:spPr>
          <a:xfrm>
            <a:off x="912223" y="5060859"/>
            <a:ext cx="10515600" cy="1287690"/>
          </a:xfrm>
          <a:prstGeom prst="rect">
            <a:avLst/>
          </a:prstGeom>
        </p:spPr>
        <p:txBody>
          <a:bodyPr vert="horz" lIns="91440" tIns="45720" rIns="91440" bIns="45720" rtlCol="0">
            <a:normAutofit lnSpcReduction="10000"/>
          </a:bodyPr>
          <a:lstStyle/>
          <a:p>
            <a:pPr marL="228600" indent="-228600">
              <a:lnSpc>
                <a:spcPct val="90000"/>
              </a:lnSpc>
              <a:spcBef>
                <a:spcPts val="1000"/>
              </a:spcBef>
              <a:buFont typeface="Arial" panose="020B0604020202020204" pitchFamily="34" charset="0"/>
              <a:buChar char="•"/>
            </a:pPr>
            <a:r>
              <a:rPr lang="en-US" altLang="en-US" sz="2400" dirty="0" smtClean="0">
                <a:latin typeface="Times New Roman" pitchFamily="18" charset="0"/>
                <a:cs typeface="Times New Roman" pitchFamily="18" charset="0"/>
              </a:rPr>
              <a:t>While this code may look innocent, it’s vulnerable to a buffer overflow attack if the user enters a string longer than the length of the user_input array. The stack is growing towards a lower address, meaning that the important_data is under the user_input in the memory.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alt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p:txBody>
          <a:bodyPr>
            <a:normAutofit/>
          </a:bodyPr>
          <a:lstStyle/>
          <a:p>
            <a:r>
              <a:rPr lang="en-US" sz="2400" dirty="0" smtClean="0">
                <a:latin typeface="Times New Roman" pitchFamily="18" charset="0"/>
                <a:cs typeface="Times New Roman" pitchFamily="18" charset="0"/>
              </a:rPr>
              <a:t>There are several ways to prevent this issue, some of which depend on our compiler or OS and kernel features. The main tools we can use to secure our data are stack canaries, address space layout randomization (ASLR), and data execution prevention (DEP).</a:t>
            </a:r>
          </a:p>
          <a:p>
            <a:pPr lvl="1"/>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Stack canaries add a new, randomly selected secret value to the stack every time a program starts. Before a function returns, this value is verified.</a:t>
            </a:r>
          </a:p>
          <a:p>
            <a:pPr lvl="1"/>
            <a:r>
              <a:rPr lang="en-US" sz="2000" dirty="0" smtClean="0">
                <a:latin typeface="Times New Roman" pitchFamily="18" charset="0"/>
                <a:cs typeface="Times New Roman" pitchFamily="18" charset="0"/>
              </a:rPr>
              <a:t>ASLR prevents an attacker from knowing the memory layout, making it challenging to perform the buffer overflow attack. If the attacker doesn’t know where the data resides in memory, they won’t know which buffer to attack.</a:t>
            </a:r>
          </a:p>
          <a:p>
            <a:pPr lvl="1"/>
            <a:r>
              <a:rPr lang="en-US" sz="2000" dirty="0" smtClean="0">
                <a:latin typeface="Times New Roman" pitchFamily="18" charset="0"/>
                <a:cs typeface="Times New Roman" pitchFamily="18" charset="0"/>
              </a:rPr>
              <a:t>DEP marks certain memory areas, like the stack, as non-executable memory.</a:t>
            </a:r>
            <a:endParaRPr lang="en-US" sz="2000" dirty="0">
              <a:latin typeface="Times New Roman" pitchFamily="18" charset="0"/>
              <a:cs typeface="Times New Roman" pitchFamily="18" charset="0"/>
            </a:endParaRP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IN" b="1" i="0" dirty="0">
                <a:solidFill>
                  <a:srgbClr val="030328"/>
                </a:solidFill>
                <a:effectLst/>
                <a:latin typeface="Poppins" panose="00000500000000000000" pitchFamily="2" charset="0"/>
              </a:rPr>
              <a:t>1</a:t>
            </a:r>
            <a:r>
              <a:rPr lang="en-IN" sz="4000" b="1" i="0" dirty="0">
                <a:solidFill>
                  <a:srgbClr val="030328"/>
                </a:solidFill>
                <a:effectLst/>
                <a:latin typeface="Times New Roman" pitchFamily="18" charset="0"/>
                <a:cs typeface="Times New Roman" pitchFamily="18" charset="0"/>
              </a:rPr>
              <a:t>. Buffer </a:t>
            </a:r>
            <a:r>
              <a:rPr lang="en-IN" sz="4000" b="1" i="0" dirty="0" smtClean="0">
                <a:solidFill>
                  <a:srgbClr val="030328"/>
                </a:solidFill>
                <a:effectLst/>
                <a:latin typeface="Times New Roman" pitchFamily="18" charset="0"/>
                <a:cs typeface="Times New Roman" pitchFamily="18" charset="0"/>
              </a:rPr>
              <a:t>overflow (Cont.,)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p:txBody>
          <a:bodyPr>
            <a:normAutofit/>
          </a:bodyPr>
          <a:lstStyle/>
          <a:p>
            <a:r>
              <a:rPr lang="en-US" sz="2400" dirty="0" smtClean="0">
                <a:latin typeface="Times New Roman" pitchFamily="18" charset="0"/>
                <a:cs typeface="Times New Roman" pitchFamily="18" charset="0"/>
              </a:rPr>
              <a:t>In addition to using OS and compiler features, we must implement good coding practices, including bounds checking.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We should avoid using standard library functions vulnerable to buffer overflow attacks, such as get, </a:t>
            </a:r>
            <a:r>
              <a:rPr lang="en-US" sz="2400" dirty="0" err="1" smtClean="0">
                <a:latin typeface="Times New Roman" pitchFamily="18" charset="0"/>
                <a:cs typeface="Times New Roman" pitchFamily="18" charset="0"/>
              </a:rPr>
              <a:t>strcpy</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strcat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scanf</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printf</a:t>
            </a:r>
            <a:r>
              <a:rPr lang="en-US" sz="2400" dirty="0" smtClean="0">
                <a:latin typeface="Times New Roman" pitchFamily="18" charset="0"/>
                <a:cs typeface="Times New Roman" pitchFamily="18" charset="0"/>
              </a:rPr>
              <a:t>, as they don’t perform bounds checking.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Instead, we should replace them with equivalent secure functions, like </a:t>
            </a:r>
            <a:r>
              <a:rPr lang="en-US" sz="2400" dirty="0" err="1" smtClean="0">
                <a:latin typeface="Times New Roman" pitchFamily="18" charset="0"/>
                <a:cs typeface="Times New Roman" pitchFamily="18" charset="0"/>
              </a:rPr>
              <a:t>fgets</a:t>
            </a:r>
            <a:r>
              <a:rPr lang="en-US" sz="2400" dirty="0" smtClean="0">
                <a:latin typeface="Times New Roman" pitchFamily="18" charset="0"/>
                <a:cs typeface="Times New Roman" pitchFamily="18" charset="0"/>
              </a:rPr>
              <a:t>.</a:t>
            </a:r>
          </a:p>
          <a:p>
            <a:pPr lvl="1">
              <a:buNone/>
            </a:pPr>
            <a:endParaRPr lang="en-US" sz="2000" dirty="0" smtClean="0">
              <a:latin typeface="Times New Roman" pitchFamily="18" charset="0"/>
              <a:cs typeface="Times New Roman" pitchFamily="18" charset="0"/>
            </a:endParaRP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IN" b="1" i="0" dirty="0">
                <a:solidFill>
                  <a:srgbClr val="030328"/>
                </a:solidFill>
                <a:effectLst/>
                <a:latin typeface="Poppins" panose="00000500000000000000" pitchFamily="2" charset="0"/>
              </a:rPr>
              <a:t>1</a:t>
            </a:r>
            <a:r>
              <a:rPr lang="en-IN" sz="4000" b="1" i="0" dirty="0">
                <a:solidFill>
                  <a:srgbClr val="030328"/>
                </a:solidFill>
                <a:effectLst/>
                <a:latin typeface="Times New Roman" pitchFamily="18" charset="0"/>
                <a:cs typeface="Times New Roman" pitchFamily="18" charset="0"/>
              </a:rPr>
              <a:t>. Buffer </a:t>
            </a:r>
            <a:r>
              <a:rPr lang="en-IN" sz="4000" b="1" i="0" dirty="0" smtClean="0">
                <a:solidFill>
                  <a:srgbClr val="030328"/>
                </a:solidFill>
                <a:effectLst/>
                <a:latin typeface="Times New Roman" pitchFamily="18" charset="0"/>
                <a:cs typeface="Times New Roman" pitchFamily="18" charset="0"/>
              </a:rPr>
              <a:t>overflow (Cont.,)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p:txBody>
          <a:bodyPr>
            <a:normAutofit/>
          </a:bodyPr>
          <a:lstStyle/>
          <a:p>
            <a:r>
              <a:rPr lang="en-US" sz="2400" dirty="0" smtClean="0">
                <a:latin typeface="Times New Roman" pitchFamily="18" charset="0"/>
                <a:cs typeface="Times New Roman" pitchFamily="18" charset="0"/>
              </a:rPr>
              <a:t>Integer overflow is when the value we’re trying to store in an integer variable exceeds the maximum value an integer can hold.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Integer underflow occurs when this value is less than the minimum value an integer can hold. When it’s less, the value wraps around.</a:t>
            </a:r>
          </a:p>
          <a:p>
            <a:endParaRPr lang="en-IN"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2021 CWE Top 25 Most Dangerous Software Weaknesses survey ranked this the 12th most dangerous software weakness.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Additionally, integer overflow and underflow can lead to a buffer overflow vulnerability.</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2. Integer overflow and underflow</a:t>
            </a:r>
            <a:endParaRPr lang="en-IN" sz="4000" b="1" dirty="0">
              <a:solidFill>
                <a:srgbClr val="030328"/>
              </a:solidFill>
              <a:latin typeface="Times New Roman" pitchFamily="18" charset="0"/>
              <a:cs typeface="Times New Roman" pitchFamily="18" charset="0"/>
            </a:endParaRP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904512"/>
          </a:xfrm>
        </p:spPr>
        <p:txBody>
          <a:bodyPr>
            <a:normAutofit/>
          </a:bodyPr>
          <a:lstStyle/>
          <a:p>
            <a:r>
              <a:rPr lang="en-US" sz="2400" dirty="0" smtClean="0">
                <a:latin typeface="Times New Roman" pitchFamily="18" charset="0"/>
                <a:cs typeface="Times New Roman" pitchFamily="18" charset="0"/>
              </a:rPr>
              <a:t>The following code is an actual bug found in </a:t>
            </a:r>
            <a:r>
              <a:rPr lang="en-US" sz="2400" dirty="0" err="1" smtClean="0">
                <a:latin typeface="Times New Roman" pitchFamily="18" charset="0"/>
                <a:cs typeface="Times New Roman" pitchFamily="18" charset="0"/>
              </a:rPr>
              <a:t>OpenSSH</a:t>
            </a:r>
            <a:r>
              <a:rPr lang="en-US" sz="2400" dirty="0" smtClean="0">
                <a:latin typeface="Times New Roman" pitchFamily="18" charset="0"/>
                <a:cs typeface="Times New Roman" pitchFamily="18" charset="0"/>
              </a:rPr>
              <a:t> v3.3 and is an example of how an integer overflow bug that can cause a buffer overflow attack:</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2. Integer overflow and underflow (Cont.,)</a:t>
            </a:r>
            <a:endParaRPr lang="en-IN" sz="4000" b="1" dirty="0">
              <a:solidFill>
                <a:srgbClr val="030328"/>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1692902" y="3168831"/>
            <a:ext cx="8808003" cy="2213066"/>
          </a:xfrm>
          <a:prstGeom prst="rect">
            <a:avLst/>
          </a:prstGeom>
          <a:noFill/>
          <a:ln w="9525">
            <a:noFill/>
            <a:miter lim="800000"/>
            <a:headEnd/>
            <a:tailEnd/>
          </a:ln>
        </p:spPr>
      </p:pic>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4313918"/>
          </a:xfrm>
        </p:spPr>
        <p:txBody>
          <a:bodyPr>
            <a:normAutofit/>
          </a:bodyPr>
          <a:lstStyle/>
          <a:p>
            <a:r>
              <a:rPr lang="en-US" sz="2400" dirty="0" smtClean="0">
                <a:latin typeface="Times New Roman" pitchFamily="18" charset="0"/>
                <a:cs typeface="Times New Roman" pitchFamily="18" charset="0"/>
              </a:rPr>
              <a:t>This code represents an integer overflow vulnerability. While the code checks for a zero value, it’s possible to have a zero-memory allocation if the input </a:t>
            </a:r>
            <a:r>
              <a:rPr lang="en-US" sz="2400" dirty="0" err="1" smtClean="0">
                <a:latin typeface="Times New Roman" pitchFamily="18" charset="0"/>
                <a:cs typeface="Times New Roman" pitchFamily="18" charset="0"/>
              </a:rPr>
              <a:t>nresp</a:t>
            </a:r>
            <a:r>
              <a:rPr lang="en-US" sz="2400" dirty="0" smtClean="0">
                <a:latin typeface="Times New Roman" pitchFamily="18" charset="0"/>
                <a:cs typeface="Times New Roman" pitchFamily="18" charset="0"/>
              </a:rPr>
              <a:t> equals 1073741824.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Multiplying this value with four (size of char pointer) causes the variable to overflow, and </a:t>
            </a:r>
            <a:r>
              <a:rPr lang="en-US" sz="2400" dirty="0" err="1" smtClean="0">
                <a:latin typeface="Times New Roman" pitchFamily="18" charset="0"/>
                <a:cs typeface="Times New Roman" pitchFamily="18" charset="0"/>
              </a:rPr>
              <a:t>xmalloc</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nresp</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sizeof</a:t>
            </a:r>
            <a:r>
              <a:rPr lang="en-US" sz="2400" dirty="0" smtClean="0">
                <a:latin typeface="Times New Roman" pitchFamily="18" charset="0"/>
                <a:cs typeface="Times New Roman" pitchFamily="18" charset="0"/>
              </a:rPr>
              <a:t>(char*)) allocates a buffer of size 0.</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To mitigate this vulnerability, we should practice range checking for zero/the minimum value and the maximum value to protect against overflow or wrapping of the variable value.</a:t>
            </a:r>
          </a:p>
          <a:p>
            <a:endParaRPr lang="en-US" sz="2400" dirty="0" smtClean="0">
              <a:latin typeface="Times New Roman" pitchFamily="18" charset="0"/>
              <a:cs typeface="Times New Roman" pitchFamily="18" charset="0"/>
            </a:endParaRP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2. Integer overflow and underflow (Cont.,)</a:t>
            </a:r>
            <a:endParaRPr lang="en-IN" sz="4000" b="1" dirty="0">
              <a:solidFill>
                <a:srgbClr val="030328"/>
              </a:solidFill>
              <a:latin typeface="Times New Roman" pitchFamily="18" charset="0"/>
              <a:cs typeface="Times New Roman" pitchFamily="18" charset="0"/>
            </a:endParaRP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4313918"/>
          </a:xfrm>
        </p:spPr>
        <p:txBody>
          <a:bodyPr>
            <a:normAutofit/>
          </a:bodyPr>
          <a:lstStyle/>
          <a:p>
            <a:r>
              <a:rPr lang="en-US" sz="2400" dirty="0" smtClean="0">
                <a:latin typeface="Times New Roman" pitchFamily="18" charset="0"/>
                <a:cs typeface="Times New Roman" pitchFamily="18" charset="0"/>
              </a:rPr>
              <a:t>Pointer initialization is critical. We can expose a lot of data using a pointer that’s not initialized as a pointer to a memory location or function.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If the uninitialized pointer points to a memory location, it can cause the program to read or write to an unexpected memory location.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If it points to a function, it can cause the unintentional execution of an arbitrary function.</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3. Pointer initialization</a:t>
            </a: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4313918"/>
          </a:xfrm>
        </p:spPr>
        <p:txBody>
          <a:bodyPr>
            <a:normAutofit fontScale="92500" lnSpcReduction="10000"/>
          </a:bodyPr>
          <a:lstStyle/>
          <a:p>
            <a:r>
              <a:rPr lang="en-US" sz="2400" dirty="0" smtClean="0">
                <a:latin typeface="Times New Roman" pitchFamily="18" charset="0"/>
                <a:cs typeface="Times New Roman" pitchFamily="18" charset="0"/>
              </a:rPr>
              <a:t>Pointers are also vulnerable to null pointer dereferencing attacks, which can lead to program reliability issues.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Pointer dereferencing attacks describe accessing a pointer while initialized to null, causing an undefined behavior (UB) in the program. And, in most cases, it will crash.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An attacker can take advantage of this by enforcing a null pointer dereference. Incorrectly initializing the pointer will create unexpected and unpredictable behavior.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An attacker can bypass some security checks or reveal debugging information that they can use later.</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3. Pointer initialization (Cont.,)</a:t>
            </a: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786946"/>
          </a:xfrm>
        </p:spPr>
        <p:txBody>
          <a:bodyPr>
            <a:normAutofit lnSpcReduction="10000"/>
          </a:bodyPr>
          <a:lstStyle/>
          <a:p>
            <a:r>
              <a:rPr lang="en-US" sz="2400" dirty="0" smtClean="0">
                <a:latin typeface="Times New Roman" pitchFamily="18" charset="0"/>
                <a:cs typeface="Times New Roman" pitchFamily="18" charset="0"/>
              </a:rPr>
              <a:t>Let’s look at an example of pointer dereferencing caused by improper pointer initialization:</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3. Pointer initialization (Cont.,)</a:t>
            </a:r>
          </a:p>
        </p:txBody>
      </p:sp>
      <p:pic>
        <p:nvPicPr>
          <p:cNvPr id="2050" name="Picture 2"/>
          <p:cNvPicPr>
            <a:picLocks noChangeAspect="1" noChangeArrowheads="1"/>
          </p:cNvPicPr>
          <p:nvPr/>
        </p:nvPicPr>
        <p:blipFill>
          <a:blip r:embed="rId2" cstate="print"/>
          <a:srcRect/>
          <a:stretch>
            <a:fillRect/>
          </a:stretch>
        </p:blipFill>
        <p:spPr bwMode="auto">
          <a:xfrm>
            <a:off x="1781579" y="2972754"/>
            <a:ext cx="8606523" cy="2278515"/>
          </a:xfrm>
          <a:prstGeom prst="rect">
            <a:avLst/>
          </a:prstGeom>
          <a:noFill/>
          <a:ln w="9525">
            <a:noFill/>
            <a:miter lim="800000"/>
            <a:headEnd/>
            <a:tailEnd/>
          </a:ln>
        </p:spPr>
      </p:pic>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4313918"/>
          </a:xfrm>
        </p:spPr>
        <p:txBody>
          <a:bodyPr>
            <a:normAutofit fontScale="92500" lnSpcReduction="10000"/>
          </a:bodyPr>
          <a:lstStyle/>
          <a:p>
            <a:r>
              <a:rPr lang="en-US" sz="2400" dirty="0" smtClean="0">
                <a:latin typeface="Times New Roman" pitchFamily="18" charset="0"/>
                <a:cs typeface="Times New Roman" pitchFamily="18" charset="0"/>
              </a:rPr>
              <a:t>As we can see, the pointer is left uninitialized, which means that a random value is assigned to it, and the check will pass as it may be a non-null value.</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We shouldn’t depend only on the checks or the error exception handling to avoid pointer dereferencing attacks.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We should consider not using a pointer if we can avoid them and use references instead. If we do use pointers, we should use smart pointers as a replacement for raw pointers.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Another alternative to pointers is to adapt the Resource Acquisition Is Initialization (RAII) technique in our implementation, which guarantees that a resource is available to any function with access.</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3. Pointer initialization (Cont.,)</a:t>
            </a: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4313918"/>
          </a:xfrm>
        </p:spPr>
        <p:txBody>
          <a:bodyPr>
            <a:normAutofit/>
          </a:bodyPr>
          <a:lstStyle/>
          <a:p>
            <a:r>
              <a:rPr lang="en-US" sz="2400" dirty="0" smtClean="0">
                <a:latin typeface="Times New Roman" pitchFamily="18" charset="0"/>
                <a:cs typeface="Times New Roman" pitchFamily="18" charset="0"/>
              </a:rPr>
              <a:t>Another common vulnerability is incorrect type conversion.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Most issues related to type conversion happen by signed to unsigned conversion, which usually occurs during function calls by passing the wrong parameter type.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Another common vulnerability is type conversion when converting from longer </a:t>
            </a:r>
            <a:r>
              <a:rPr lang="en-US" sz="2400" dirty="0" err="1" smtClean="0">
                <a:latin typeface="Times New Roman" pitchFamily="18" charset="0"/>
                <a:cs typeface="Times New Roman" pitchFamily="18" charset="0"/>
              </a:rPr>
              <a:t>datatypes</a:t>
            </a:r>
            <a:r>
              <a:rPr lang="en-US" sz="2400" dirty="0" smtClean="0">
                <a:latin typeface="Times New Roman" pitchFamily="18" charset="0"/>
                <a:cs typeface="Times New Roman" pitchFamily="18" charset="0"/>
              </a:rPr>
              <a:t> like double to float and from long </a:t>
            </a:r>
            <a:r>
              <a:rPr lang="en-US" sz="2400" dirty="0" err="1" smtClean="0">
                <a:latin typeface="Times New Roman" pitchFamily="18" charset="0"/>
                <a:cs typeface="Times New Roman" pitchFamily="18" charset="0"/>
              </a:rPr>
              <a:t>int</a:t>
            </a:r>
            <a:r>
              <a:rPr lang="en-US" sz="2400" dirty="0" smtClean="0">
                <a:latin typeface="Times New Roman" pitchFamily="18" charset="0"/>
                <a:cs typeface="Times New Roman" pitchFamily="18" charset="0"/>
              </a:rPr>
              <a:t> to </a:t>
            </a:r>
            <a:r>
              <a:rPr lang="en-US" sz="2400" dirty="0" err="1" smtClean="0">
                <a:latin typeface="Times New Roman" pitchFamily="18" charset="0"/>
                <a:cs typeface="Times New Roman" pitchFamily="18" charset="0"/>
              </a:rPr>
              <a:t>int</a:t>
            </a:r>
            <a:r>
              <a:rPr lang="en-US" sz="2400" dirty="0" smtClean="0">
                <a:latin typeface="Times New Roman" pitchFamily="18" charset="0"/>
                <a:cs typeface="Times New Roman" pitchFamily="18" charset="0"/>
              </a:rPr>
              <a:t>, which causes the data to be lost during the implicit conversion.</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4. Incorrect type conversion</a:t>
            </a: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682444"/>
          </a:xfrm>
        </p:spPr>
        <p:txBody>
          <a:bodyPr>
            <a:normAutofit fontScale="92500"/>
          </a:bodyPr>
          <a:lstStyle/>
          <a:p>
            <a:r>
              <a:rPr lang="en-US" sz="2400" dirty="0" smtClean="0">
                <a:latin typeface="Times New Roman" pitchFamily="18" charset="0"/>
                <a:cs typeface="Times New Roman" pitchFamily="18" charset="0"/>
              </a:rPr>
              <a:t>Here’s a simple example of what an incorrect type conversion vulnerability looks like:</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4. Incorrect type conversion (Cont.,)</a:t>
            </a:r>
          </a:p>
        </p:txBody>
      </p:sp>
      <p:pic>
        <p:nvPicPr>
          <p:cNvPr id="3074" name="Picture 2"/>
          <p:cNvPicPr>
            <a:picLocks noChangeAspect="1" noChangeArrowheads="1"/>
          </p:cNvPicPr>
          <p:nvPr/>
        </p:nvPicPr>
        <p:blipFill>
          <a:blip r:embed="rId2" cstate="print"/>
          <a:srcRect/>
          <a:stretch>
            <a:fillRect/>
          </a:stretch>
        </p:blipFill>
        <p:spPr bwMode="auto">
          <a:xfrm>
            <a:off x="2312126" y="2351314"/>
            <a:ext cx="8125095" cy="3760477"/>
          </a:xfrm>
          <a:prstGeom prst="rect">
            <a:avLst/>
          </a:prstGeom>
          <a:noFill/>
          <a:ln w="9525">
            <a:noFill/>
            <a:miter lim="800000"/>
            <a:headEnd/>
            <a:tailEnd/>
          </a:ln>
        </p:spPr>
      </p:pic>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4313918"/>
          </a:xfrm>
        </p:spPr>
        <p:txBody>
          <a:bodyPr>
            <a:normAutofit/>
          </a:bodyPr>
          <a:lstStyle/>
          <a:p>
            <a:r>
              <a:rPr lang="en-US" sz="2400" dirty="0" smtClean="0">
                <a:latin typeface="Times New Roman" pitchFamily="18" charset="0"/>
                <a:cs typeface="Times New Roman" pitchFamily="18" charset="0"/>
              </a:rPr>
              <a:t>While it seems impossible to hit the else statement, as any input string length will be larger than -1, this code doesn’t work and always hits the else statement.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According to the C++ standard and the integral promotion concept, if two values of different data types are compared, the representation of the values will be changed.</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In our case, signed short </a:t>
            </a:r>
            <a:r>
              <a:rPr lang="en-US" sz="2400" dirty="0" err="1" smtClean="0">
                <a:latin typeface="Times New Roman" pitchFamily="18" charset="0"/>
                <a:cs typeface="Times New Roman" pitchFamily="18" charset="0"/>
              </a:rPr>
              <a:t>int’s</a:t>
            </a:r>
            <a:r>
              <a:rPr lang="en-US" sz="2400" dirty="0" smtClean="0">
                <a:latin typeface="Times New Roman" pitchFamily="18" charset="0"/>
                <a:cs typeface="Times New Roman" pitchFamily="18" charset="0"/>
              </a:rPr>
              <a:t> value will be cast to the larger type, unsigned int. This will convert the -1 value to an unsigned integer value, equal to 4294967295, which will cause the program flow to go to the else statement.</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4. Incorrect type conversion (Cont.,)</a:t>
            </a: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4313918"/>
          </a:xfrm>
        </p:spPr>
        <p:txBody>
          <a:bodyPr>
            <a:normAutofit/>
          </a:bodyPr>
          <a:lstStyle/>
          <a:p>
            <a:r>
              <a:rPr lang="en-US" sz="2400" dirty="0" smtClean="0">
                <a:latin typeface="Times New Roman" pitchFamily="18" charset="0"/>
                <a:cs typeface="Times New Roman" pitchFamily="18" charset="0"/>
              </a:rPr>
              <a:t>The same issue can happen if you use unsigned integers for subtracting two input values from the user, assuming that the user will never enter a smaller value first, leading to the result of the subtraction being negative.</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According to the Google C++ Style Guide, avoiding doing math with unsigned integers can mitigate most of the type conversion problems (except for representing </a:t>
            </a:r>
            <a:r>
              <a:rPr lang="en-US" sz="2400" dirty="0" err="1" smtClean="0">
                <a:latin typeface="Times New Roman" pitchFamily="18" charset="0"/>
                <a:cs typeface="Times New Roman" pitchFamily="18" charset="0"/>
              </a:rPr>
              <a:t>bitfields</a:t>
            </a:r>
            <a:r>
              <a:rPr lang="en-US" sz="2400" dirty="0" smtClean="0">
                <a:latin typeface="Times New Roman" pitchFamily="18" charset="0"/>
                <a:cs typeface="Times New Roman" pitchFamily="18" charset="0"/>
              </a:rPr>
              <a:t>).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They also recommend avoiding the mix between </a:t>
            </a:r>
            <a:r>
              <a:rPr lang="en-US" sz="2400" dirty="0" err="1" smtClean="0">
                <a:latin typeface="Times New Roman" pitchFamily="18" charset="0"/>
                <a:cs typeface="Times New Roman" pitchFamily="18" charset="0"/>
              </a:rPr>
              <a:t>signedness</a:t>
            </a:r>
            <a:r>
              <a:rPr lang="en-US" sz="2400" dirty="0" smtClean="0">
                <a:latin typeface="Times New Roman" pitchFamily="18" charset="0"/>
                <a:cs typeface="Times New Roman" pitchFamily="18" charset="0"/>
              </a:rPr>
              <a:t> and using </a:t>
            </a:r>
            <a:r>
              <a:rPr lang="en-US" sz="2400" dirty="0" err="1" smtClean="0">
                <a:latin typeface="Times New Roman" pitchFamily="18" charset="0"/>
                <a:cs typeface="Times New Roman" pitchFamily="18" charset="0"/>
              </a:rPr>
              <a:t>Iterators</a:t>
            </a:r>
            <a:r>
              <a:rPr lang="en-US" sz="2400" dirty="0" smtClean="0">
                <a:latin typeface="Times New Roman" pitchFamily="18" charset="0"/>
                <a:cs typeface="Times New Roman" pitchFamily="18" charset="0"/>
              </a:rPr>
              <a:t> and containers instead of pointers and sizes.</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4. Incorrect type conversion (Cont.,)</a:t>
            </a: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4313918"/>
          </a:xfrm>
        </p:spPr>
        <p:txBody>
          <a:bodyPr>
            <a:normAutofit/>
          </a:bodyPr>
          <a:lstStyle/>
          <a:p>
            <a:r>
              <a:rPr lang="en-US" sz="2400" dirty="0" smtClean="0">
                <a:latin typeface="Times New Roman" pitchFamily="18" charset="0"/>
                <a:cs typeface="Times New Roman" pitchFamily="18" charset="0"/>
              </a:rPr>
              <a:t>There are two components in a format string vulnerability: the format function and the format string.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Before exploring format string vulnerabilities, let’s review what the format function and the format string do.</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format function is the function that converts variables of the programming language into a human-readable format.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Examples of the format function are </a:t>
            </a:r>
            <a:r>
              <a:rPr lang="en-US" sz="2400" dirty="0" err="1" smtClean="0">
                <a:latin typeface="Times New Roman" pitchFamily="18" charset="0"/>
                <a:cs typeface="Times New Roman" pitchFamily="18" charset="0"/>
              </a:rPr>
              <a:t>printf</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fprintf</a:t>
            </a:r>
            <a:r>
              <a:rPr lang="en-US" sz="2400" dirty="0" smtClean="0">
                <a:latin typeface="Times New Roman" pitchFamily="18" charset="0"/>
                <a:cs typeface="Times New Roman" pitchFamily="18" charset="0"/>
              </a:rPr>
              <a:t>.</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5. Format string vulnerability</a:t>
            </a: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852261"/>
          </a:xfrm>
        </p:spPr>
        <p:txBody>
          <a:bodyPr>
            <a:normAutofit/>
          </a:bodyPr>
          <a:lstStyle/>
          <a:p>
            <a:r>
              <a:rPr lang="en-US" sz="2400" dirty="0" smtClean="0">
                <a:latin typeface="Times New Roman" pitchFamily="18" charset="0"/>
                <a:cs typeface="Times New Roman" pitchFamily="18" charset="0"/>
              </a:rPr>
              <a:t>The format string is the argument of the format function, which contains text and format string parameters. Let’s look at an example:</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5. Format string vulnerability (Cont.,)</a:t>
            </a:r>
          </a:p>
        </p:txBody>
      </p:sp>
      <p:pic>
        <p:nvPicPr>
          <p:cNvPr id="4098" name="Picture 2"/>
          <p:cNvPicPr>
            <a:picLocks noChangeAspect="1" noChangeArrowheads="1"/>
          </p:cNvPicPr>
          <p:nvPr/>
        </p:nvPicPr>
        <p:blipFill>
          <a:blip r:embed="rId2" cstate="print"/>
          <a:srcRect/>
          <a:stretch>
            <a:fillRect/>
          </a:stretch>
        </p:blipFill>
        <p:spPr bwMode="auto">
          <a:xfrm>
            <a:off x="1056918" y="3093176"/>
            <a:ext cx="9978340" cy="956310"/>
          </a:xfrm>
          <a:prstGeom prst="rect">
            <a:avLst/>
          </a:prstGeom>
          <a:noFill/>
          <a:ln w="9525">
            <a:noFill/>
            <a:miter lim="800000"/>
            <a:headEnd/>
            <a:tailEnd/>
          </a:ln>
        </p:spPr>
      </p:pic>
      <p:sp>
        <p:nvSpPr>
          <p:cNvPr id="5" name="Content Placeholder 2">
            <a:extLst>
              <a:ext uri="{FF2B5EF4-FFF2-40B4-BE49-F238E27FC236}">
                <a16:creationId xmlns="" xmlns:a16="http://schemas.microsoft.com/office/drawing/2014/main" id="{FA2F8C9F-6986-CF8C-7CFE-9616271CA187}"/>
              </a:ext>
            </a:extLst>
          </p:cNvPr>
          <p:cNvSpPr txBox="1">
            <a:spLocks/>
          </p:cNvSpPr>
          <p:nvPr/>
        </p:nvSpPr>
        <p:spPr>
          <a:xfrm>
            <a:off x="1042851" y="4512220"/>
            <a:ext cx="10515600" cy="852261"/>
          </a:xfrm>
          <a:prstGeom prst="rect">
            <a:avLst/>
          </a:prstGeom>
        </p:spPr>
        <p:txBody>
          <a:bodyPr vert="horz" lIns="91440" tIns="45720" rIns="91440" bIns="45720" rtlCol="0">
            <a:normAutofit/>
          </a:bodyPr>
          <a:lstStyle/>
          <a:p>
            <a:r>
              <a:rPr lang="en-US" sz="2400" dirty="0" smtClean="0">
                <a:latin typeface="Times New Roman" pitchFamily="18" charset="0"/>
                <a:cs typeface="Times New Roman" pitchFamily="18" charset="0"/>
              </a:rPr>
              <a:t>"This is a test text of number: %d ", 11" is the format string.</a:t>
            </a:r>
          </a:p>
          <a:p>
            <a:r>
              <a:rPr lang="en-US" sz="2400" dirty="0" smtClean="0">
                <a:latin typeface="Times New Roman" pitchFamily="18" charset="0"/>
                <a:cs typeface="Times New Roman" pitchFamily="18" charset="0"/>
              </a:rPr>
              <a:t>"%d" is the format string parameter that defines the conversion format.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1100455"/>
          </a:xfrm>
        </p:spPr>
        <p:txBody>
          <a:bodyPr>
            <a:normAutofit lnSpcReduction="10000"/>
          </a:bodyPr>
          <a:lstStyle/>
          <a:p>
            <a:r>
              <a:rPr lang="en-US" sz="2400" dirty="0" smtClean="0">
                <a:latin typeface="Times New Roman" pitchFamily="18" charset="0"/>
                <a:cs typeface="Times New Roman" pitchFamily="18" charset="0"/>
              </a:rPr>
              <a:t>Format string attacks happen when we don’t check the parameters that pass to the format function. For example, assume we implemented an application like the following:</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5. Format string vulnerability (Cont.,)</a:t>
            </a:r>
          </a:p>
        </p:txBody>
      </p:sp>
      <p:pic>
        <p:nvPicPr>
          <p:cNvPr id="5123" name="Picture 3"/>
          <p:cNvPicPr>
            <a:picLocks noChangeAspect="1" noChangeArrowheads="1"/>
          </p:cNvPicPr>
          <p:nvPr/>
        </p:nvPicPr>
        <p:blipFill>
          <a:blip r:embed="rId2" cstate="print"/>
          <a:srcRect/>
          <a:stretch>
            <a:fillRect/>
          </a:stretch>
        </p:blipFill>
        <p:spPr bwMode="auto">
          <a:xfrm>
            <a:off x="1451779" y="3261359"/>
            <a:ext cx="9414885" cy="2460171"/>
          </a:xfrm>
          <a:prstGeom prst="rect">
            <a:avLst/>
          </a:prstGeom>
          <a:noFill/>
          <a:ln w="9525">
            <a:noFill/>
            <a:miter lim="800000"/>
            <a:headEnd/>
            <a:tailEnd/>
          </a:ln>
        </p:spPr>
      </p:pic>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852261"/>
          </a:xfrm>
        </p:spPr>
        <p:txBody>
          <a:bodyPr>
            <a:normAutofit fontScale="92500"/>
          </a:bodyPr>
          <a:lstStyle/>
          <a:p>
            <a:r>
              <a:rPr lang="en-US" sz="2400" dirty="0" smtClean="0">
                <a:latin typeface="Times New Roman" pitchFamily="18" charset="0"/>
                <a:cs typeface="Times New Roman" pitchFamily="18" charset="0"/>
              </a:rPr>
              <a:t>This code is vulnerable to the format string attack because it doesn’t check the user input. So, the attack happens by passing a format string parameter and input like this:</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5. Format string vulnerability (Cont.,)</a:t>
            </a:r>
          </a:p>
        </p:txBody>
      </p:sp>
      <p:sp>
        <p:nvSpPr>
          <p:cNvPr id="5" name="Content Placeholder 2">
            <a:extLst>
              <a:ext uri="{FF2B5EF4-FFF2-40B4-BE49-F238E27FC236}">
                <a16:creationId xmlns="" xmlns:a16="http://schemas.microsoft.com/office/drawing/2014/main" id="{FA2F8C9F-6986-CF8C-7CFE-9616271CA187}"/>
              </a:ext>
            </a:extLst>
          </p:cNvPr>
          <p:cNvSpPr txBox="1">
            <a:spLocks/>
          </p:cNvSpPr>
          <p:nvPr/>
        </p:nvSpPr>
        <p:spPr>
          <a:xfrm>
            <a:off x="1055914" y="3950517"/>
            <a:ext cx="10515600" cy="852261"/>
          </a:xfrm>
          <a:prstGeom prst="rect">
            <a:avLst/>
          </a:prstGeom>
        </p:spPr>
        <p:txBody>
          <a:bodyPr vert="horz" lIns="91440" tIns="45720" rIns="91440" bIns="45720" rtlCol="0">
            <a:normAutofit/>
          </a:bodyPr>
          <a:lstStyle/>
          <a:p>
            <a:r>
              <a:rPr lang="en-US" sz="2400" dirty="0" smtClean="0">
                <a:latin typeface="Times New Roman" pitchFamily="18" charset="0"/>
                <a:cs typeface="Times New Roman" pitchFamily="18" charset="0"/>
              </a:rPr>
              <a:t>This input can get data from the stack, as the program output is something like the following:</a:t>
            </a:r>
          </a:p>
        </p:txBody>
      </p:sp>
      <p:pic>
        <p:nvPicPr>
          <p:cNvPr id="6146" name="Picture 2"/>
          <p:cNvPicPr>
            <a:picLocks noChangeAspect="1" noChangeArrowheads="1"/>
          </p:cNvPicPr>
          <p:nvPr/>
        </p:nvPicPr>
        <p:blipFill>
          <a:blip r:embed="rId2" cstate="print"/>
          <a:srcRect/>
          <a:stretch>
            <a:fillRect/>
          </a:stretch>
        </p:blipFill>
        <p:spPr bwMode="auto">
          <a:xfrm>
            <a:off x="1079870" y="2719117"/>
            <a:ext cx="9932118" cy="938172"/>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1107922" y="4818425"/>
            <a:ext cx="9917129" cy="1186558"/>
          </a:xfrm>
          <a:prstGeom prst="rect">
            <a:avLst/>
          </a:prstGeom>
          <a:noFill/>
          <a:ln w="9525">
            <a:noFill/>
            <a:miter lim="800000"/>
            <a:headEnd/>
            <a:tailEnd/>
          </a:ln>
        </p:spPr>
      </p:pic>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1583781"/>
          </a:xfrm>
        </p:spPr>
        <p:txBody>
          <a:bodyPr>
            <a:normAutofit lnSpcReduction="10000"/>
          </a:bodyPr>
          <a:lstStyle/>
          <a:p>
            <a:r>
              <a:rPr lang="en-US" sz="2400" dirty="0" smtClean="0">
                <a:latin typeface="Times New Roman" pitchFamily="18" charset="0"/>
                <a:cs typeface="Times New Roman" pitchFamily="18" charset="0"/>
              </a:rPr>
              <a:t>This output is caused by </a:t>
            </a:r>
            <a:r>
              <a:rPr lang="en-US" sz="2400" dirty="0" err="1" smtClean="0">
                <a:latin typeface="Times New Roman" pitchFamily="18" charset="0"/>
                <a:cs typeface="Times New Roman" pitchFamily="18" charset="0"/>
              </a:rPr>
              <a:t>printf</a:t>
            </a:r>
            <a:r>
              <a:rPr lang="en-US" sz="2400" dirty="0" smtClean="0">
                <a:latin typeface="Times New Roman" pitchFamily="18" charset="0"/>
                <a:cs typeface="Times New Roman" pitchFamily="18" charset="0"/>
              </a:rPr>
              <a:t> treating %p as a reference to a void pointer that’s trying to interpret the memory addresses.</a:t>
            </a:r>
          </a:p>
          <a:p>
            <a:r>
              <a:rPr lang="en-US" sz="2400" dirty="0" smtClean="0">
                <a:latin typeface="Times New Roman" pitchFamily="18" charset="0"/>
                <a:cs typeface="Times New Roman" pitchFamily="18" charset="0"/>
              </a:rPr>
              <a:t>To prevent this vulnerability, we need to add a format argument to our code, as shown below:</a:t>
            </a:r>
          </a:p>
          <a:p>
            <a:endParaRPr lang="en-US" sz="2400" dirty="0" smtClean="0">
              <a:latin typeface="Times New Roman" pitchFamily="18" charset="0"/>
              <a:cs typeface="Times New Roman" pitchFamily="18" charset="0"/>
            </a:endParaRP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5. Format string vulnerability (Cont.,)</a:t>
            </a:r>
          </a:p>
        </p:txBody>
      </p:sp>
      <p:pic>
        <p:nvPicPr>
          <p:cNvPr id="7170" name="Picture 2"/>
          <p:cNvPicPr>
            <a:picLocks noChangeAspect="1" noChangeArrowheads="1"/>
          </p:cNvPicPr>
          <p:nvPr/>
        </p:nvPicPr>
        <p:blipFill>
          <a:blip r:embed="rId2" cstate="print"/>
          <a:srcRect/>
          <a:stretch>
            <a:fillRect/>
          </a:stretch>
        </p:blipFill>
        <p:spPr bwMode="auto">
          <a:xfrm>
            <a:off x="1396007" y="3246800"/>
            <a:ext cx="9498416" cy="2794357"/>
          </a:xfrm>
          <a:prstGeom prst="rect">
            <a:avLst/>
          </a:prstGeom>
          <a:noFill/>
          <a:ln w="9525">
            <a:noFill/>
            <a:miter lim="800000"/>
            <a:headEnd/>
            <a:tailEnd/>
          </a:ln>
        </p:spPr>
      </p:pic>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826135"/>
          </a:xfrm>
        </p:spPr>
        <p:txBody>
          <a:bodyPr>
            <a:normAutofit/>
          </a:bodyPr>
          <a:lstStyle/>
          <a:p>
            <a:r>
              <a:rPr lang="en-US" sz="2400" dirty="0" smtClean="0">
                <a:latin typeface="Times New Roman" pitchFamily="18" charset="0"/>
                <a:cs typeface="Times New Roman" pitchFamily="18" charset="0"/>
              </a:rPr>
              <a:t>The code snippet above is safe because it won’t interpret the string. For example, if we tried to compile and run the code, the output would be as follows:</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5. Format string vulnerability (Cont.,)</a:t>
            </a:r>
          </a:p>
        </p:txBody>
      </p:sp>
      <p:pic>
        <p:nvPicPr>
          <p:cNvPr id="8194" name="Picture 2"/>
          <p:cNvPicPr>
            <a:picLocks noChangeAspect="1" noChangeArrowheads="1"/>
          </p:cNvPicPr>
          <p:nvPr/>
        </p:nvPicPr>
        <p:blipFill>
          <a:blip r:embed="rId2" cstate="print"/>
          <a:srcRect/>
          <a:stretch>
            <a:fillRect/>
          </a:stretch>
        </p:blipFill>
        <p:spPr bwMode="auto">
          <a:xfrm>
            <a:off x="1168436" y="2857772"/>
            <a:ext cx="9804363" cy="1208588"/>
          </a:xfrm>
          <a:prstGeom prst="rect">
            <a:avLst/>
          </a:prstGeom>
          <a:noFill/>
          <a:ln w="9525">
            <a:noFill/>
            <a:miter lim="800000"/>
            <a:headEnd/>
            <a:tailEnd/>
          </a:ln>
        </p:spPr>
      </p:pic>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3817529"/>
          </a:xfrm>
        </p:spPr>
        <p:txBody>
          <a:bodyPr>
            <a:normAutofit/>
          </a:bodyPr>
          <a:lstStyle/>
          <a:p>
            <a:r>
              <a:rPr lang="en-US" sz="2400" dirty="0" smtClean="0">
                <a:latin typeface="Times New Roman" pitchFamily="18" charset="0"/>
                <a:cs typeface="Times New Roman" pitchFamily="18" charset="0"/>
              </a:rPr>
              <a:t>The output is only the characters passed to the program without interpretation as a reference to the void pointer.</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Another better solution is to avoid the usage of </a:t>
            </a:r>
            <a:r>
              <a:rPr lang="en-US" sz="2400" dirty="0" err="1" smtClean="0">
                <a:latin typeface="Times New Roman" pitchFamily="18" charset="0"/>
                <a:cs typeface="Times New Roman" pitchFamily="18" charset="0"/>
              </a:rPr>
              <a:t>printf</a:t>
            </a:r>
            <a:r>
              <a:rPr lang="en-US" sz="2400" dirty="0" smtClean="0">
                <a:latin typeface="Times New Roman" pitchFamily="18" charset="0"/>
                <a:cs typeface="Times New Roman" pitchFamily="18" charset="0"/>
              </a:rPr>
              <a:t> whenever possible unless you are forced to use it, and instead replace it with std::format and std::</a:t>
            </a:r>
            <a:r>
              <a:rPr lang="en-US" sz="2400" dirty="0" err="1" smtClean="0">
                <a:latin typeface="Times New Roman" pitchFamily="18" charset="0"/>
                <a:cs typeface="Times New Roman" pitchFamily="18" charset="0"/>
              </a:rPr>
              <a:t>vformat</a:t>
            </a:r>
            <a:r>
              <a:rPr lang="en-US" sz="2400" dirty="0" smtClean="0">
                <a:latin typeface="Times New Roman" pitchFamily="18" charset="0"/>
                <a:cs typeface="Times New Roman" pitchFamily="18" charset="0"/>
              </a:rPr>
              <a:t> (introduced in C++ 20), as it verifies the input against the types either on the runtime or in compile time and raise a </a:t>
            </a:r>
            <a:r>
              <a:rPr lang="en-US" sz="2400" dirty="0" err="1" smtClean="0">
                <a:latin typeface="Times New Roman" pitchFamily="18" charset="0"/>
                <a:cs typeface="Times New Roman" pitchFamily="18" charset="0"/>
              </a:rPr>
              <a:t>format_error</a:t>
            </a:r>
            <a:r>
              <a:rPr lang="en-US" sz="2400" dirty="0" smtClean="0">
                <a:latin typeface="Times New Roman" pitchFamily="18" charset="0"/>
                <a:cs typeface="Times New Roman" pitchFamily="18" charset="0"/>
              </a:rPr>
              <a:t> on mismatch.</a:t>
            </a:r>
          </a:p>
          <a:p>
            <a:pPr>
              <a:buNone/>
            </a:pPr>
            <a:endParaRPr lang="en-US" sz="2400" dirty="0" smtClean="0">
              <a:latin typeface="Times New Roman" pitchFamily="18" charset="0"/>
              <a:cs typeface="Times New Roman" pitchFamily="18" charset="0"/>
            </a:endParaRP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5. Format string vulnerability (Cont.,)</a:t>
            </a: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 xmlns:a16="http://schemas.microsoft.com/office/drawing/2014/main" id="{3AB65B73-A694-5360-F040-692ADDFA1855}"/>
              </a:ext>
            </a:extLst>
          </p:cNvPr>
          <p:cNvPicPr>
            <a:picLocks noGrp="1" noChangeAspect="1"/>
          </p:cNvPicPr>
          <p:nvPr>
            <p:ph idx="1"/>
          </p:nvPr>
        </p:nvPicPr>
        <p:blipFill>
          <a:blip r:embed="rId2" cstate="print"/>
          <a:stretch>
            <a:fillRect/>
          </a:stretch>
        </p:blipFill>
        <p:spPr>
          <a:xfrm>
            <a:off x="2238375" y="1672431"/>
            <a:ext cx="7715250" cy="4143375"/>
          </a:xfrm>
        </p:spPr>
      </p:pic>
      <p:sp>
        <p:nvSpPr>
          <p:cNvPr id="2" name="Title 1">
            <a:extLst>
              <a:ext uri="{FF2B5EF4-FFF2-40B4-BE49-F238E27FC236}">
                <a16:creationId xmlns="" xmlns:a16="http://schemas.microsoft.com/office/drawing/2014/main" id="{4CEEC67A-B7A8-805D-5A35-33995163366F}"/>
              </a:ext>
            </a:extLst>
          </p:cNvPr>
          <p:cNvSpPr>
            <a:spLocks noGrp="1"/>
          </p:cNvSpPr>
          <p:nvPr>
            <p:ph type="title"/>
          </p:nvPr>
        </p:nvSpPr>
        <p:spPr/>
        <p:txBody>
          <a:bodyPr/>
          <a:lstStyle/>
          <a:p>
            <a:r>
              <a:rPr lang="en-IN" b="1" i="0" dirty="0">
                <a:solidFill>
                  <a:srgbClr val="000000"/>
                </a:solidFill>
                <a:effectLst/>
                <a:latin typeface="Georgia" panose="02040502050405020303" pitchFamily="18" charset="0"/>
              </a:rPr>
              <a:t>Protecting Source Code</a:t>
            </a:r>
            <a:endParaRPr lang="en-IN" dirty="0"/>
          </a:p>
        </p:txBody>
      </p:sp>
    </p:spTree>
    <p:extLst>
      <p:ext uri="{BB962C8B-B14F-4D97-AF65-F5344CB8AC3E}">
        <p14:creationId xmlns:p14="http://schemas.microsoft.com/office/powerpoint/2010/main" val="218505607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3817529"/>
          </a:xfrm>
        </p:spPr>
        <p:txBody>
          <a:bodyPr>
            <a:normAutofit/>
          </a:bodyPr>
          <a:lstStyle/>
          <a:p>
            <a:pPr marL="0" indent="0">
              <a:buNone/>
            </a:pPr>
            <a:r>
              <a:rPr lang="en-US" sz="2400" dirty="0" smtClean="0">
                <a:latin typeface="Times New Roman" pitchFamily="18" charset="0"/>
                <a:cs typeface="Times New Roman" pitchFamily="18" charset="0"/>
              </a:rPr>
              <a:t>Security vulnerabilities in C++ programming languages can be classified as follows:</a:t>
            </a:r>
          </a:p>
          <a:p>
            <a:pPr marL="0" indent="0">
              <a:buNone/>
            </a:pP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1. Integer vulnerability</a:t>
            </a:r>
          </a:p>
          <a:p>
            <a:pPr>
              <a:buNone/>
            </a:pPr>
            <a:r>
              <a:rPr lang="en-US" sz="2400" dirty="0" smtClean="0">
                <a:latin typeface="Times New Roman" pitchFamily="18" charset="0"/>
                <a:cs typeface="Times New Roman" pitchFamily="18" charset="0"/>
              </a:rPr>
              <a:t>2. Buffer overflow</a:t>
            </a:r>
          </a:p>
          <a:p>
            <a:pPr>
              <a:buNone/>
            </a:pPr>
            <a:r>
              <a:rPr lang="en-US" sz="2400" dirty="0" smtClean="0">
                <a:latin typeface="Times New Roman" pitchFamily="18" charset="0"/>
                <a:cs typeface="Times New Roman" pitchFamily="18" charset="0"/>
              </a:rPr>
              <a:t>3. String vulnerability</a:t>
            </a:r>
          </a:p>
          <a:p>
            <a:pPr>
              <a:buNone/>
            </a:pPr>
            <a:r>
              <a:rPr lang="en-US" sz="2400" dirty="0" smtClean="0">
                <a:latin typeface="Times New Roman" pitchFamily="18" charset="0"/>
                <a:cs typeface="Times New Roman" pitchFamily="18" charset="0"/>
              </a:rPr>
              <a:t>4. Pointer subterfuge</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Security Vulnerabilities</a:t>
            </a: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38200" y="1825625"/>
            <a:ext cx="10515600" cy="3817529"/>
          </a:xfrm>
        </p:spPr>
        <p:txBody>
          <a:bodyPr>
            <a:normAutofit/>
          </a:bodyPr>
          <a:lstStyle/>
          <a:p>
            <a:pPr marL="0" indent="0">
              <a:buNone/>
            </a:pPr>
            <a:r>
              <a:rPr lang="en-US" altLang="en-US" sz="2400" dirty="0" smtClean="0">
                <a:latin typeface="Times New Roman" pitchFamily="18" charset="0"/>
                <a:cs typeface="Times New Roman" pitchFamily="18" charset="0"/>
              </a:rPr>
              <a:t>There are two ways of detecting security vulnerabilities in a program.</a:t>
            </a:r>
          </a:p>
          <a:p>
            <a:pPr marL="0" lvl="0" indent="0" eaLnBrk="0" fontAlgn="base" hangingPunct="0">
              <a:lnSpc>
                <a:spcPct val="100000"/>
              </a:lnSpc>
              <a:spcBef>
                <a:spcPct val="0"/>
              </a:spcBef>
              <a:spcAft>
                <a:spcPct val="0"/>
              </a:spcAft>
              <a:buNone/>
            </a:pPr>
            <a:endParaRPr lang="en-US" altLang="en-US" sz="2400" dirty="0" smtClean="0">
              <a:latin typeface="Times New Roman" pitchFamily="18" charset="0"/>
              <a:cs typeface="Times New Roman" pitchFamily="18" charset="0"/>
            </a:endParaRPr>
          </a:p>
          <a:p>
            <a:pPr marL="0" lvl="0" indent="0" eaLnBrk="0" fontAlgn="base" hangingPunct="0">
              <a:lnSpc>
                <a:spcPct val="100000"/>
              </a:lnSpc>
              <a:spcBef>
                <a:spcPct val="0"/>
              </a:spcBef>
              <a:spcAft>
                <a:spcPct val="0"/>
              </a:spcAft>
              <a:buNone/>
            </a:pPr>
            <a:r>
              <a:rPr lang="en-US" altLang="en-US" sz="2400" b="1" dirty="0" smtClean="0">
                <a:latin typeface="Times New Roman" pitchFamily="18" charset="0"/>
                <a:cs typeface="Times New Roman" pitchFamily="18" charset="0"/>
              </a:rPr>
              <a:t>Static Analysis</a:t>
            </a:r>
            <a:r>
              <a:rPr lang="en-US" altLang="en-US" sz="2400" dirty="0" smtClean="0">
                <a:latin typeface="Times New Roman" pitchFamily="18" charset="0"/>
                <a:cs typeface="Times New Roman" pitchFamily="18" charset="0"/>
              </a:rPr>
              <a:t> is carried out statically without executing the code. In this method, the tool inspects input program code for possible security vulnerabilities and alerts the user.</a:t>
            </a:r>
          </a:p>
          <a:p>
            <a:pPr marL="0" lvl="0" indent="0" eaLnBrk="0" fontAlgn="base" hangingPunct="0">
              <a:lnSpc>
                <a:spcPct val="100000"/>
              </a:lnSpc>
              <a:spcBef>
                <a:spcPct val="0"/>
              </a:spcBef>
              <a:spcAft>
                <a:spcPct val="0"/>
              </a:spcAft>
              <a:buNone/>
            </a:pPr>
            <a:endParaRPr lang="en-US" altLang="en-US" sz="2400" dirty="0" smtClean="0">
              <a:latin typeface="Times New Roman" pitchFamily="18" charset="0"/>
              <a:cs typeface="Times New Roman" pitchFamily="18" charset="0"/>
            </a:endParaRPr>
          </a:p>
          <a:p>
            <a:pPr marL="0" lvl="0" indent="0" eaLnBrk="0" fontAlgn="base" hangingPunct="0">
              <a:lnSpc>
                <a:spcPct val="100000"/>
              </a:lnSpc>
              <a:spcBef>
                <a:spcPct val="0"/>
              </a:spcBef>
              <a:spcAft>
                <a:spcPct val="0"/>
              </a:spcAft>
              <a:buNone/>
            </a:pPr>
            <a:endParaRPr lang="en-US" altLang="en-US" sz="2400" b="1" dirty="0" smtClean="0">
              <a:latin typeface="Times New Roman" pitchFamily="18" charset="0"/>
              <a:cs typeface="Times New Roman" pitchFamily="18" charset="0"/>
            </a:endParaRPr>
          </a:p>
          <a:p>
            <a:pPr marL="0" indent="0" eaLnBrk="0" fontAlgn="base" hangingPunct="0">
              <a:lnSpc>
                <a:spcPct val="100000"/>
              </a:lnSpc>
              <a:spcBef>
                <a:spcPct val="0"/>
              </a:spcBef>
              <a:spcAft>
                <a:spcPct val="0"/>
              </a:spcAft>
              <a:buNone/>
            </a:pPr>
            <a:r>
              <a:rPr lang="en-US" altLang="en-US" sz="2400" b="1" dirty="0" smtClean="0">
                <a:latin typeface="Times New Roman" pitchFamily="18" charset="0"/>
                <a:cs typeface="Times New Roman" pitchFamily="18" charset="0"/>
              </a:rPr>
              <a:t>Dynamic Analysis</a:t>
            </a:r>
            <a:r>
              <a:rPr lang="en-US" altLang="en-US" sz="2400" dirty="0" smtClean="0">
                <a:latin typeface="Times New Roman" pitchFamily="18" charset="0"/>
                <a:cs typeface="Times New Roman" pitchFamily="18" charset="0"/>
              </a:rPr>
              <a:t> is carried during the execution of a program. Dynamic analyzer monitors system memory, functional behavior, response time, and overall performance of the program to find security vulnerabilities</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lstStyle/>
          <a:p>
            <a:r>
              <a:rPr lang="en-US" sz="4000" b="1" dirty="0" smtClean="0">
                <a:solidFill>
                  <a:srgbClr val="030328"/>
                </a:solidFill>
                <a:latin typeface="Times New Roman" pitchFamily="18" charset="0"/>
                <a:cs typeface="Times New Roman" pitchFamily="18" charset="0"/>
              </a:rPr>
              <a:t>Ways to detect Security Vulnerabilities</a:t>
            </a:r>
          </a:p>
        </p:txBody>
      </p:sp>
    </p:spTree>
    <p:extLst>
      <p:ext uri="{BB962C8B-B14F-4D97-AF65-F5344CB8AC3E}">
        <p14:creationId xmlns:p14="http://schemas.microsoft.com/office/powerpoint/2010/main" val="155171972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C62FED5-2379-12A0-10F0-C41420A91932}"/>
              </a:ext>
            </a:extLst>
          </p:cNvPr>
          <p:cNvSpPr>
            <a:spLocks noGrp="1"/>
          </p:cNvSpPr>
          <p:nvPr>
            <p:ph type="title"/>
          </p:nvPr>
        </p:nvSpPr>
        <p:spPr/>
        <p:txBody>
          <a:bodyPr>
            <a:normAutofit/>
          </a:bodyPr>
          <a:lstStyle/>
          <a:p>
            <a:r>
              <a:rPr lang="en-US" sz="4000" b="1" dirty="0" smtClean="0">
                <a:solidFill>
                  <a:srgbClr val="030328"/>
                </a:solidFill>
                <a:latin typeface="Times New Roman" pitchFamily="18" charset="0"/>
                <a:cs typeface="Times New Roman" pitchFamily="18" charset="0"/>
              </a:rPr>
              <a:t>Ways to detect Security Vulnerabilities (Cont.,)</a:t>
            </a:r>
            <a:endParaRPr lang="en-IN" sz="4000" dirty="0"/>
          </a:p>
        </p:txBody>
      </p:sp>
      <p:pic>
        <p:nvPicPr>
          <p:cNvPr id="2051" name="Picture 3">
            <a:extLst>
              <a:ext uri="{FF2B5EF4-FFF2-40B4-BE49-F238E27FC236}">
                <a16:creationId xmlns="" xmlns:a16="http://schemas.microsoft.com/office/drawing/2014/main" id="{AF6252F2-D45A-53C5-EBD2-C9A4EBD5B70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41066" y="1301497"/>
            <a:ext cx="7309868" cy="4740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19323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7ECBF6-3BA2-4E0B-F174-03FDD456CC59}"/>
              </a:ext>
            </a:extLst>
          </p:cNvPr>
          <p:cNvSpPr>
            <a:spLocks noGrp="1"/>
          </p:cNvSpPr>
          <p:nvPr>
            <p:ph type="ctrTitle"/>
          </p:nvPr>
        </p:nvSpPr>
        <p:spPr/>
        <p:txBody>
          <a:bodyPr>
            <a:normAutofit fontScale="90000"/>
          </a:bodyPr>
          <a:lstStyle/>
          <a:p>
            <a:r>
              <a:rPr lang="en-US" b="1" i="0" dirty="0">
                <a:solidFill>
                  <a:srgbClr val="0F0F0F"/>
                </a:solidFill>
                <a:effectLst/>
                <a:latin typeface="Roboto" panose="020B0604020202020204" pitchFamily="2" charset="0"/>
              </a:rPr>
              <a:t>Using </a:t>
            </a:r>
            <a:r>
              <a:rPr lang="en-US" b="1" i="0" dirty="0" err="1">
                <a:solidFill>
                  <a:srgbClr val="0F0F0F"/>
                </a:solidFill>
                <a:effectLst/>
                <a:latin typeface="Roboto" panose="020B0604020202020204" pitchFamily="2" charset="0"/>
              </a:rPr>
              <a:t>cppcheck</a:t>
            </a:r>
            <a:r>
              <a:rPr lang="en-US" b="1" i="0" dirty="0">
                <a:solidFill>
                  <a:srgbClr val="0F0F0F"/>
                </a:solidFill>
                <a:effectLst/>
                <a:latin typeface="Roboto" panose="020B0604020202020204" pitchFamily="2" charset="0"/>
              </a:rPr>
              <a:t> &amp; </a:t>
            </a:r>
            <a:r>
              <a:rPr lang="en-US" b="1" i="0" dirty="0" err="1">
                <a:solidFill>
                  <a:srgbClr val="0F0F0F"/>
                </a:solidFill>
                <a:effectLst/>
                <a:latin typeface="Roboto" panose="020B0604020202020204" pitchFamily="2" charset="0"/>
              </a:rPr>
              <a:t>flawfinder</a:t>
            </a:r>
            <a:r>
              <a:rPr lang="en-US" b="1" i="0" dirty="0">
                <a:solidFill>
                  <a:srgbClr val="0F0F0F"/>
                </a:solidFill>
                <a:effectLst/>
                <a:latin typeface="Roboto" panose="020B0604020202020204" pitchFamily="2" charset="0"/>
              </a:rPr>
              <a:t> for C &amp; C++ Static Analysis</a:t>
            </a:r>
            <a:br>
              <a:rPr lang="en-US" b="1" i="0" dirty="0">
                <a:solidFill>
                  <a:srgbClr val="0F0F0F"/>
                </a:solidFill>
                <a:effectLst/>
                <a:latin typeface="Roboto" panose="020B0604020202020204" pitchFamily="2" charset="0"/>
              </a:rPr>
            </a:br>
            <a:endParaRPr lang="en-IN" dirty="0"/>
          </a:p>
        </p:txBody>
      </p:sp>
      <p:sp>
        <p:nvSpPr>
          <p:cNvPr id="3" name="Subtitle 2">
            <a:extLst>
              <a:ext uri="{FF2B5EF4-FFF2-40B4-BE49-F238E27FC236}">
                <a16:creationId xmlns="" xmlns:a16="http://schemas.microsoft.com/office/drawing/2014/main" id="{D7FF602D-88C6-F1AA-72F8-B5D7660F489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2073941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852561-B8D8-DB63-DB9A-9008FD0DBB71}"/>
              </a:ext>
            </a:extLst>
          </p:cNvPr>
          <p:cNvSpPr>
            <a:spLocks noGrp="1"/>
          </p:cNvSpPr>
          <p:nvPr>
            <p:ph type="title"/>
          </p:nvPr>
        </p:nvSpPr>
        <p:spPr/>
        <p:txBody>
          <a:bodyPr/>
          <a:lstStyle/>
          <a:p>
            <a:r>
              <a:rPr lang="en-US" dirty="0"/>
              <a:t>Static code analysis</a:t>
            </a:r>
            <a:endParaRPr lang="en-IN" dirty="0"/>
          </a:p>
        </p:txBody>
      </p:sp>
      <p:pic>
        <p:nvPicPr>
          <p:cNvPr id="5" name="Content Placeholder 4">
            <a:extLst>
              <a:ext uri="{FF2B5EF4-FFF2-40B4-BE49-F238E27FC236}">
                <a16:creationId xmlns="" xmlns:a16="http://schemas.microsoft.com/office/drawing/2014/main" id="{CBC922D6-0FD8-41DA-A958-E28EB05FEAF8}"/>
              </a:ext>
            </a:extLst>
          </p:cNvPr>
          <p:cNvPicPr>
            <a:picLocks noGrp="1" noChangeAspect="1"/>
          </p:cNvPicPr>
          <p:nvPr>
            <p:ph idx="1"/>
          </p:nvPr>
        </p:nvPicPr>
        <p:blipFill>
          <a:blip r:embed="rId2"/>
          <a:stretch>
            <a:fillRect/>
          </a:stretch>
        </p:blipFill>
        <p:spPr>
          <a:xfrm>
            <a:off x="1090612" y="1566322"/>
            <a:ext cx="10010775" cy="3914775"/>
          </a:xfrm>
        </p:spPr>
      </p:pic>
    </p:spTree>
    <p:extLst>
      <p:ext uri="{BB962C8B-B14F-4D97-AF65-F5344CB8AC3E}">
        <p14:creationId xmlns:p14="http://schemas.microsoft.com/office/powerpoint/2010/main" val="38251550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37E6CB-C439-BE49-7B0F-9A9A3A5F1F57}"/>
              </a:ext>
            </a:extLst>
          </p:cNvPr>
          <p:cNvSpPr>
            <a:spLocks noGrp="1"/>
          </p:cNvSpPr>
          <p:nvPr>
            <p:ph type="title"/>
          </p:nvPr>
        </p:nvSpPr>
        <p:spPr/>
        <p:txBody>
          <a:bodyPr>
            <a:normAutofit fontScale="90000"/>
          </a:bodyPr>
          <a:lstStyle/>
          <a:p>
            <a:r>
              <a:rPr lang="en-US" b="0" dirty="0">
                <a:solidFill>
                  <a:srgbClr val="1F2328"/>
                </a:solidFill>
                <a:latin typeface="-apple-system"/>
              </a:rPr>
              <a:t>C</a:t>
            </a:r>
            <a:r>
              <a:rPr lang="en-US" b="0" i="0" dirty="0">
                <a:solidFill>
                  <a:srgbClr val="1F2328"/>
                </a:solidFill>
                <a:effectLst/>
                <a:latin typeface="-apple-system"/>
              </a:rPr>
              <a:t>ommonly-</a:t>
            </a:r>
            <a:r>
              <a:rPr lang="en-US" b="0" i="0" dirty="0" err="1">
                <a:solidFill>
                  <a:srgbClr val="1F2328"/>
                </a:solidFill>
                <a:effectLst/>
                <a:latin typeface="-apple-system"/>
              </a:rPr>
              <a:t>occuring</a:t>
            </a:r>
            <a:r>
              <a:rPr lang="en-US" b="0" i="0" dirty="0">
                <a:solidFill>
                  <a:srgbClr val="1F2328"/>
                </a:solidFill>
                <a:effectLst/>
                <a:latin typeface="-apple-system"/>
              </a:rPr>
              <a:t> classes of memory-related bugs in C/C++.</a:t>
            </a:r>
            <a:endParaRPr lang="en-IN" dirty="0"/>
          </a:p>
        </p:txBody>
      </p:sp>
      <p:sp>
        <p:nvSpPr>
          <p:cNvPr id="3" name="Content Placeholder 2">
            <a:extLst>
              <a:ext uri="{FF2B5EF4-FFF2-40B4-BE49-F238E27FC236}">
                <a16:creationId xmlns="" xmlns:a16="http://schemas.microsoft.com/office/drawing/2014/main" id="{BB1D7560-8EF4-23E6-66C2-37DA643D8AF7}"/>
              </a:ext>
            </a:extLst>
          </p:cNvPr>
          <p:cNvSpPr>
            <a:spLocks noGrp="1"/>
          </p:cNvSpPr>
          <p:nvPr>
            <p:ph idx="1"/>
          </p:nvPr>
        </p:nvSpPr>
        <p:spPr/>
        <p:txBody>
          <a:bodyPr>
            <a:normAutofit fontScale="92500" lnSpcReduction="10000"/>
          </a:bodyPr>
          <a:lstStyle/>
          <a:p>
            <a:pPr algn="l">
              <a:buFont typeface="Arial" panose="020B0604020202020204" pitchFamily="34" charset="0"/>
              <a:buChar char="•"/>
            </a:pPr>
            <a:r>
              <a:rPr lang="en-US" b="1" i="0" dirty="0" smtClean="0">
                <a:solidFill>
                  <a:srgbClr val="1F2328"/>
                </a:solidFill>
                <a:effectLst/>
                <a:latin typeface="-apple-system"/>
              </a:rPr>
              <a:t>Memory </a:t>
            </a:r>
            <a:r>
              <a:rPr lang="en-US" b="1" i="0" dirty="0">
                <a:solidFill>
                  <a:srgbClr val="1F2328"/>
                </a:solidFill>
                <a:effectLst/>
                <a:latin typeface="-apple-system"/>
              </a:rPr>
              <a:t>Leaks</a:t>
            </a:r>
            <a:r>
              <a:rPr lang="en-US" b="0" i="0" dirty="0">
                <a:solidFill>
                  <a:srgbClr val="1F2328"/>
                </a:solidFill>
                <a:effectLst/>
                <a:latin typeface="-apple-system"/>
              </a:rPr>
              <a:t>: memory is allocated but not deallocated, causing the program to consume more and more memory over time</a:t>
            </a:r>
          </a:p>
          <a:p>
            <a:pPr algn="l">
              <a:buFont typeface="Arial" panose="020B0604020202020204" pitchFamily="34" charset="0"/>
              <a:buChar char="•"/>
            </a:pPr>
            <a:r>
              <a:rPr lang="en-US" b="1" i="0" dirty="0">
                <a:solidFill>
                  <a:srgbClr val="1F2328"/>
                </a:solidFill>
                <a:effectLst/>
                <a:latin typeface="-apple-system"/>
              </a:rPr>
              <a:t>Dangling Pointers</a:t>
            </a:r>
            <a:r>
              <a:rPr lang="en-US" b="0" i="0" dirty="0">
                <a:solidFill>
                  <a:srgbClr val="1F2328"/>
                </a:solidFill>
                <a:effectLst/>
                <a:latin typeface="-apple-system"/>
              </a:rPr>
              <a:t>: a pointer to a memory location that has already been freed explicitly or by a garbage collector</a:t>
            </a:r>
          </a:p>
          <a:p>
            <a:pPr algn="l">
              <a:buFont typeface="Arial" panose="020B0604020202020204" pitchFamily="34" charset="0"/>
              <a:buChar char="•"/>
            </a:pPr>
            <a:r>
              <a:rPr lang="en-US" b="1" i="0" dirty="0">
                <a:solidFill>
                  <a:srgbClr val="1F2328"/>
                </a:solidFill>
                <a:effectLst/>
                <a:latin typeface="-apple-system"/>
              </a:rPr>
              <a:t>Buffer Overflows</a:t>
            </a:r>
            <a:r>
              <a:rPr lang="en-US" b="0" i="0" dirty="0">
                <a:solidFill>
                  <a:srgbClr val="1F2328"/>
                </a:solidFill>
                <a:effectLst/>
                <a:latin typeface="-apple-system"/>
              </a:rPr>
              <a:t>: write to a memory buffer beyond its allocated bounds, causing the program to crash or behave unexpectedly</a:t>
            </a:r>
          </a:p>
          <a:p>
            <a:pPr algn="l">
              <a:buFont typeface="Arial" panose="020B0604020202020204" pitchFamily="34" charset="0"/>
              <a:buChar char="•"/>
            </a:pPr>
            <a:r>
              <a:rPr lang="en-US" b="1" i="0" dirty="0">
                <a:solidFill>
                  <a:srgbClr val="1F2328"/>
                </a:solidFill>
                <a:effectLst/>
                <a:latin typeface="-apple-system"/>
              </a:rPr>
              <a:t>Use After Free</a:t>
            </a:r>
            <a:r>
              <a:rPr lang="en-US" b="0" i="0" dirty="0">
                <a:solidFill>
                  <a:srgbClr val="1F2328"/>
                </a:solidFill>
                <a:effectLst/>
                <a:latin typeface="-apple-system"/>
              </a:rPr>
              <a:t>: memory access that has already been freed, causing the program to crash or corrupt memory</a:t>
            </a:r>
          </a:p>
          <a:p>
            <a:pPr algn="l">
              <a:buFont typeface="Arial" panose="020B0604020202020204" pitchFamily="34" charset="0"/>
              <a:buChar char="•"/>
            </a:pPr>
            <a:r>
              <a:rPr lang="en-US" b="1" i="0" dirty="0">
                <a:solidFill>
                  <a:srgbClr val="1F2328"/>
                </a:solidFill>
                <a:effectLst/>
                <a:latin typeface="-apple-system"/>
              </a:rPr>
              <a:t>Invalid Free</a:t>
            </a:r>
            <a:r>
              <a:rPr lang="en-US" b="0" i="0" dirty="0">
                <a:solidFill>
                  <a:srgbClr val="1F2328"/>
                </a:solidFill>
                <a:effectLst/>
                <a:latin typeface="-apple-system"/>
              </a:rPr>
              <a:t>: attempt to free memory that has not been dynamically allocated</a:t>
            </a:r>
          </a:p>
          <a:p>
            <a:pPr algn="l">
              <a:buFont typeface="Arial" panose="020B0604020202020204" pitchFamily="34" charset="0"/>
              <a:buChar char="•"/>
            </a:pPr>
            <a:r>
              <a:rPr lang="en-US" b="1" i="0" dirty="0">
                <a:solidFill>
                  <a:srgbClr val="1F2328"/>
                </a:solidFill>
                <a:effectLst/>
                <a:latin typeface="-apple-system"/>
              </a:rPr>
              <a:t>Double Free</a:t>
            </a:r>
            <a:r>
              <a:rPr lang="en-US" b="0" i="0" dirty="0">
                <a:solidFill>
                  <a:srgbClr val="1F2328"/>
                </a:solidFill>
                <a:effectLst/>
                <a:latin typeface="-apple-system"/>
              </a:rPr>
              <a:t>: program attempts to free memory that has already been freed</a:t>
            </a:r>
          </a:p>
          <a:p>
            <a:endParaRPr lang="en-IN" dirty="0"/>
          </a:p>
        </p:txBody>
      </p:sp>
    </p:spTree>
    <p:extLst>
      <p:ext uri="{BB962C8B-B14F-4D97-AF65-F5344CB8AC3E}">
        <p14:creationId xmlns:p14="http://schemas.microsoft.com/office/powerpoint/2010/main" val="34951399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50893B-F6FD-4F9A-1C2C-A26C9A29437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 xmlns:a16="http://schemas.microsoft.com/office/drawing/2014/main" id="{6C6015D6-B57A-0CD2-5A2F-1058389A25D3}"/>
              </a:ext>
            </a:extLst>
          </p:cNvPr>
          <p:cNvPicPr>
            <a:picLocks noGrp="1" noChangeAspect="1"/>
          </p:cNvPicPr>
          <p:nvPr>
            <p:ph idx="1"/>
          </p:nvPr>
        </p:nvPicPr>
        <p:blipFill>
          <a:blip r:embed="rId2"/>
          <a:stretch>
            <a:fillRect/>
          </a:stretch>
        </p:blipFill>
        <p:spPr>
          <a:xfrm>
            <a:off x="1758432" y="1825625"/>
            <a:ext cx="8675135" cy="4351338"/>
          </a:xfrm>
        </p:spPr>
      </p:pic>
    </p:spTree>
    <p:extLst>
      <p:ext uri="{BB962C8B-B14F-4D97-AF65-F5344CB8AC3E}">
        <p14:creationId xmlns:p14="http://schemas.microsoft.com/office/powerpoint/2010/main" val="28393761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2AC7A7-DB62-AA7F-3748-7C4D3A573DB0}"/>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5E1EE982-4C28-B0A2-F378-7389167E570A}"/>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ED7ED7AA-226B-080E-9549-CA857AB8CEA4}"/>
              </a:ext>
            </a:extLst>
          </p:cNvPr>
          <p:cNvPicPr>
            <a:picLocks noChangeAspect="1"/>
          </p:cNvPicPr>
          <p:nvPr/>
        </p:nvPicPr>
        <p:blipFill>
          <a:blip r:embed="rId2"/>
          <a:stretch>
            <a:fillRect/>
          </a:stretch>
        </p:blipFill>
        <p:spPr>
          <a:xfrm>
            <a:off x="2281237" y="2081212"/>
            <a:ext cx="7629525" cy="2695575"/>
          </a:xfrm>
          <a:prstGeom prst="rect">
            <a:avLst/>
          </a:prstGeom>
        </p:spPr>
      </p:pic>
    </p:spTree>
    <p:extLst>
      <p:ext uri="{BB962C8B-B14F-4D97-AF65-F5344CB8AC3E}">
        <p14:creationId xmlns:p14="http://schemas.microsoft.com/office/powerpoint/2010/main" val="21264186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3DC56E-A2BC-6962-A412-09CE3CB55702}"/>
              </a:ext>
            </a:extLst>
          </p:cNvPr>
          <p:cNvSpPr>
            <a:spLocks noGrp="1"/>
          </p:cNvSpPr>
          <p:nvPr>
            <p:ph type="title"/>
          </p:nvPr>
        </p:nvSpPr>
        <p:spPr/>
        <p:txBody>
          <a:bodyPr/>
          <a:lstStyle/>
          <a:p>
            <a:endParaRPr lang="en-IN"/>
          </a:p>
        </p:txBody>
      </p:sp>
      <p:pic>
        <p:nvPicPr>
          <p:cNvPr id="7" name="Content Placeholder 6">
            <a:extLst>
              <a:ext uri="{FF2B5EF4-FFF2-40B4-BE49-F238E27FC236}">
                <a16:creationId xmlns="" xmlns:a16="http://schemas.microsoft.com/office/drawing/2014/main" id="{E88D19A8-55F0-5325-FE8E-05949F47B50F}"/>
              </a:ext>
            </a:extLst>
          </p:cNvPr>
          <p:cNvPicPr>
            <a:picLocks noGrp="1" noChangeAspect="1"/>
          </p:cNvPicPr>
          <p:nvPr>
            <p:ph idx="1"/>
          </p:nvPr>
        </p:nvPicPr>
        <p:blipFill>
          <a:blip r:embed="rId2"/>
          <a:stretch>
            <a:fillRect/>
          </a:stretch>
        </p:blipFill>
        <p:spPr>
          <a:xfrm>
            <a:off x="4762589" y="2336366"/>
            <a:ext cx="6962775" cy="2552700"/>
          </a:xfrm>
        </p:spPr>
      </p:pic>
      <p:pic>
        <p:nvPicPr>
          <p:cNvPr id="5" name="Picture 4">
            <a:extLst>
              <a:ext uri="{FF2B5EF4-FFF2-40B4-BE49-F238E27FC236}">
                <a16:creationId xmlns="" xmlns:a16="http://schemas.microsoft.com/office/drawing/2014/main" id="{59801D8D-1301-5F71-7263-518F9583F7D4}"/>
              </a:ext>
            </a:extLst>
          </p:cNvPr>
          <p:cNvPicPr>
            <a:picLocks noChangeAspect="1"/>
          </p:cNvPicPr>
          <p:nvPr/>
        </p:nvPicPr>
        <p:blipFill>
          <a:blip r:embed="rId3"/>
          <a:stretch>
            <a:fillRect/>
          </a:stretch>
        </p:blipFill>
        <p:spPr>
          <a:xfrm>
            <a:off x="370037" y="943694"/>
            <a:ext cx="3981450" cy="4591050"/>
          </a:xfrm>
          <a:prstGeom prst="rect">
            <a:avLst/>
          </a:prstGeom>
        </p:spPr>
      </p:pic>
    </p:spTree>
    <p:extLst>
      <p:ext uri="{BB962C8B-B14F-4D97-AF65-F5344CB8AC3E}">
        <p14:creationId xmlns:p14="http://schemas.microsoft.com/office/powerpoint/2010/main" val="24894904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7" name="Text Placeholder 6"/>
          <p:cNvSpPr>
            <a:spLocks noGrp="1"/>
          </p:cNvSpPr>
          <p:nvPr>
            <p:ph type="body" idx="2"/>
          </p:nvPr>
        </p:nvSpPr>
        <p:spPr/>
        <p:txBody>
          <a:bodyPr/>
          <a:lstStyle/>
          <a:p>
            <a:endParaRPr lang="en-US"/>
          </a:p>
        </p:txBody>
      </p:sp>
      <p:sp>
        <p:nvSpPr>
          <p:cNvPr id="6" name="Content Placeholder 5"/>
          <p:cNvSpPr>
            <a:spLocks noGrp="1"/>
          </p:cNvSpPr>
          <p:nvPr>
            <p:ph sz="half" idx="1"/>
          </p:nvPr>
        </p:nvSpPr>
        <p:spPr/>
        <p:txBody>
          <a:bodyPr/>
          <a:lstStyle/>
          <a:p>
            <a:endParaRPr lang="en-US"/>
          </a:p>
        </p:txBody>
      </p:sp>
      <p:pic>
        <p:nvPicPr>
          <p:cNvPr id="5" name="Picture 4">
            <a:extLst>
              <a:ext uri="{FF2B5EF4-FFF2-40B4-BE49-F238E27FC236}">
                <a16:creationId xmlns="" xmlns:a16="http://schemas.microsoft.com/office/drawing/2014/main" id="{75CC9249-4D9E-01AA-176F-9868A5218F1E}"/>
              </a:ext>
            </a:extLst>
          </p:cNvPr>
          <p:cNvPicPr>
            <a:picLocks noChangeAspect="1"/>
          </p:cNvPicPr>
          <p:nvPr/>
        </p:nvPicPr>
        <p:blipFill>
          <a:blip r:embed="rId2"/>
          <a:stretch>
            <a:fillRect/>
          </a:stretch>
        </p:blipFill>
        <p:spPr>
          <a:xfrm>
            <a:off x="376237" y="585787"/>
            <a:ext cx="11439525" cy="5686425"/>
          </a:xfrm>
          <a:prstGeom prst="rect">
            <a:avLst/>
          </a:prstGeom>
        </p:spPr>
      </p:pic>
    </p:spTree>
    <p:extLst>
      <p:ext uri="{BB962C8B-B14F-4D97-AF65-F5344CB8AC3E}">
        <p14:creationId xmlns:p14="http://schemas.microsoft.com/office/powerpoint/2010/main" val="81794712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B8A25E-1545-8F09-D81C-58F4F3C02CA1}"/>
              </a:ext>
            </a:extLst>
          </p:cNvPr>
          <p:cNvSpPr>
            <a:spLocks noGrp="1"/>
          </p:cNvSpPr>
          <p:nvPr>
            <p:ph type="title"/>
          </p:nvPr>
        </p:nvSpPr>
        <p:spPr/>
        <p:txBody>
          <a:bodyPr/>
          <a:lstStyle/>
          <a:p>
            <a:endParaRPr lang="en-IN"/>
          </a:p>
        </p:txBody>
      </p:sp>
      <p:sp>
        <p:nvSpPr>
          <p:cNvPr id="7" name="Content Placeholder 6">
            <a:extLst>
              <a:ext uri="{FF2B5EF4-FFF2-40B4-BE49-F238E27FC236}">
                <a16:creationId xmlns="" xmlns:a16="http://schemas.microsoft.com/office/drawing/2014/main" id="{A9687DC2-CE54-2537-9604-A01EADB5E778}"/>
              </a:ext>
            </a:extLst>
          </p:cNvPr>
          <p:cNvSpPr>
            <a:spLocks noGrp="1"/>
          </p:cNvSpPr>
          <p:nvPr>
            <p:ph idx="1"/>
          </p:nvPr>
        </p:nvSpPr>
        <p:spPr/>
        <p:txBody>
          <a:bodyPr/>
          <a:lstStyle/>
          <a:p>
            <a:endParaRPr lang="en-IN"/>
          </a:p>
        </p:txBody>
      </p:sp>
      <p:pic>
        <p:nvPicPr>
          <p:cNvPr id="9" name="Picture 8">
            <a:extLst>
              <a:ext uri="{FF2B5EF4-FFF2-40B4-BE49-F238E27FC236}">
                <a16:creationId xmlns="" xmlns:a16="http://schemas.microsoft.com/office/drawing/2014/main" id="{E3D5D1DE-6DD5-DF1D-6D8F-724DA8A9E471}"/>
              </a:ext>
            </a:extLst>
          </p:cNvPr>
          <p:cNvPicPr>
            <a:picLocks noChangeAspect="1"/>
          </p:cNvPicPr>
          <p:nvPr/>
        </p:nvPicPr>
        <p:blipFill>
          <a:blip r:embed="rId2"/>
          <a:stretch>
            <a:fillRect/>
          </a:stretch>
        </p:blipFill>
        <p:spPr>
          <a:xfrm>
            <a:off x="2449624" y="59607"/>
            <a:ext cx="7677150" cy="6086475"/>
          </a:xfrm>
          <a:prstGeom prst="rect">
            <a:avLst/>
          </a:prstGeom>
        </p:spPr>
      </p:pic>
    </p:spTree>
    <p:extLst>
      <p:ext uri="{BB962C8B-B14F-4D97-AF65-F5344CB8AC3E}">
        <p14:creationId xmlns:p14="http://schemas.microsoft.com/office/powerpoint/2010/main" val="409693923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9" name="Text Placeholder 8"/>
          <p:cNvSpPr>
            <a:spLocks noGrp="1"/>
          </p:cNvSpPr>
          <p:nvPr>
            <p:ph type="body" idx="2"/>
          </p:nvPr>
        </p:nvSpPr>
        <p:spPr/>
        <p:txBody>
          <a:bodyPr/>
          <a:lstStyle/>
          <a:p>
            <a:endParaRPr lang="en-US"/>
          </a:p>
        </p:txBody>
      </p:sp>
      <p:sp>
        <p:nvSpPr>
          <p:cNvPr id="7" name="Content Placeholder 6"/>
          <p:cNvSpPr>
            <a:spLocks noGrp="1"/>
          </p:cNvSpPr>
          <p:nvPr>
            <p:ph sz="half" idx="1"/>
          </p:nvPr>
        </p:nvSpPr>
        <p:spPr/>
        <p:txBody>
          <a:bodyPr/>
          <a:lstStyle/>
          <a:p>
            <a:endParaRPr lang="en-US"/>
          </a:p>
        </p:txBody>
      </p:sp>
      <p:pic>
        <p:nvPicPr>
          <p:cNvPr id="5" name="Picture 4">
            <a:extLst>
              <a:ext uri="{FF2B5EF4-FFF2-40B4-BE49-F238E27FC236}">
                <a16:creationId xmlns="" xmlns:a16="http://schemas.microsoft.com/office/drawing/2014/main" id="{4A56259E-30C0-7743-40E7-8A08F423F2C8}"/>
              </a:ext>
            </a:extLst>
          </p:cNvPr>
          <p:cNvPicPr>
            <a:picLocks noChangeAspect="1"/>
          </p:cNvPicPr>
          <p:nvPr/>
        </p:nvPicPr>
        <p:blipFill>
          <a:blip r:embed="rId2"/>
          <a:stretch>
            <a:fillRect/>
          </a:stretch>
        </p:blipFill>
        <p:spPr>
          <a:xfrm>
            <a:off x="266700" y="400050"/>
            <a:ext cx="11658600" cy="6057900"/>
          </a:xfrm>
          <a:prstGeom prst="rect">
            <a:avLst/>
          </a:prstGeom>
        </p:spPr>
      </p:pic>
      <p:sp>
        <p:nvSpPr>
          <p:cNvPr id="6" name="Rectangle 5">
            <a:extLst>
              <a:ext uri="{FF2B5EF4-FFF2-40B4-BE49-F238E27FC236}">
                <a16:creationId xmlns="" xmlns:a16="http://schemas.microsoft.com/office/drawing/2014/main" id="{E8B01D5E-761D-6960-9E15-02394823062C}"/>
              </a:ext>
            </a:extLst>
          </p:cNvPr>
          <p:cNvSpPr/>
          <p:nvPr/>
        </p:nvSpPr>
        <p:spPr>
          <a:xfrm>
            <a:off x="4433977" y="4848045"/>
            <a:ext cx="1164566" cy="35368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 xmlns:a16="http://schemas.microsoft.com/office/drawing/2014/main" id="{8BD00F8C-D05C-5D6F-BFE7-712C5DBC73BA}"/>
              </a:ext>
            </a:extLst>
          </p:cNvPr>
          <p:cNvCxnSpPr/>
          <p:nvPr/>
        </p:nvCxnSpPr>
        <p:spPr>
          <a:xfrm flipH="1">
            <a:off x="5865962" y="4632385"/>
            <a:ext cx="785004" cy="3795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243982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28336B-444E-01CD-B4B8-5F96FD053B0E}"/>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28D38C36-1711-62EE-61A7-1379269842B4}"/>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D4EAAA13-DA6A-2ED7-E27A-59849931C325}"/>
              </a:ext>
            </a:extLst>
          </p:cNvPr>
          <p:cNvPicPr>
            <a:picLocks noChangeAspect="1"/>
          </p:cNvPicPr>
          <p:nvPr/>
        </p:nvPicPr>
        <p:blipFill>
          <a:blip r:embed="rId2"/>
          <a:stretch>
            <a:fillRect/>
          </a:stretch>
        </p:blipFill>
        <p:spPr>
          <a:xfrm>
            <a:off x="2226620" y="1147313"/>
            <a:ext cx="7560318" cy="4458149"/>
          </a:xfrm>
          <a:prstGeom prst="rect">
            <a:avLst/>
          </a:prstGeom>
        </p:spPr>
      </p:pic>
    </p:spTree>
    <p:extLst>
      <p:ext uri="{BB962C8B-B14F-4D97-AF65-F5344CB8AC3E}">
        <p14:creationId xmlns:p14="http://schemas.microsoft.com/office/powerpoint/2010/main" val="36480438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7" name="Text Placeholder 6"/>
          <p:cNvSpPr>
            <a:spLocks noGrp="1"/>
          </p:cNvSpPr>
          <p:nvPr>
            <p:ph type="body" idx="2"/>
          </p:nvPr>
        </p:nvSpPr>
        <p:spPr/>
        <p:txBody>
          <a:bodyPr/>
          <a:lstStyle/>
          <a:p>
            <a:endParaRPr lang="en-US"/>
          </a:p>
        </p:txBody>
      </p:sp>
      <p:sp>
        <p:nvSpPr>
          <p:cNvPr id="6" name="Content Placeholder 5"/>
          <p:cNvSpPr>
            <a:spLocks noGrp="1"/>
          </p:cNvSpPr>
          <p:nvPr>
            <p:ph sz="half" idx="1"/>
          </p:nvPr>
        </p:nvSpPr>
        <p:spPr/>
        <p:txBody>
          <a:bodyPr/>
          <a:lstStyle/>
          <a:p>
            <a:endParaRPr lang="en-US"/>
          </a:p>
        </p:txBody>
      </p:sp>
      <p:pic>
        <p:nvPicPr>
          <p:cNvPr id="5" name="Picture 4">
            <a:extLst>
              <a:ext uri="{FF2B5EF4-FFF2-40B4-BE49-F238E27FC236}">
                <a16:creationId xmlns="" xmlns:a16="http://schemas.microsoft.com/office/drawing/2014/main" id="{3479461E-C612-1BC7-9FBA-DD5FACE5D7F7}"/>
              </a:ext>
            </a:extLst>
          </p:cNvPr>
          <p:cNvPicPr>
            <a:picLocks noChangeAspect="1"/>
          </p:cNvPicPr>
          <p:nvPr/>
        </p:nvPicPr>
        <p:blipFill>
          <a:blip r:embed="rId2"/>
          <a:stretch>
            <a:fillRect/>
          </a:stretch>
        </p:blipFill>
        <p:spPr>
          <a:xfrm>
            <a:off x="280987" y="414337"/>
            <a:ext cx="11630025" cy="6029325"/>
          </a:xfrm>
          <a:prstGeom prst="rect">
            <a:avLst/>
          </a:prstGeom>
        </p:spPr>
      </p:pic>
    </p:spTree>
    <p:extLst>
      <p:ext uri="{BB962C8B-B14F-4D97-AF65-F5344CB8AC3E}">
        <p14:creationId xmlns:p14="http://schemas.microsoft.com/office/powerpoint/2010/main" val="14350960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058688-2566-B73A-5B7B-FFFB1DEDE575}"/>
              </a:ext>
            </a:extLst>
          </p:cNvPr>
          <p:cNvSpPr>
            <a:spLocks noGrp="1"/>
          </p:cNvSpPr>
          <p:nvPr>
            <p:ph type="title"/>
          </p:nvPr>
        </p:nvSpPr>
        <p:spPr/>
        <p:txBody>
          <a:bodyPr/>
          <a:lstStyle/>
          <a:p>
            <a:r>
              <a:rPr lang="en-US" dirty="0" err="1"/>
              <a:t>Flawfinder</a:t>
            </a:r>
            <a:endParaRPr lang="en-IN" dirty="0"/>
          </a:p>
        </p:txBody>
      </p:sp>
      <p:sp>
        <p:nvSpPr>
          <p:cNvPr id="3" name="Content Placeholder 2">
            <a:extLst>
              <a:ext uri="{FF2B5EF4-FFF2-40B4-BE49-F238E27FC236}">
                <a16:creationId xmlns="" xmlns:a16="http://schemas.microsoft.com/office/drawing/2014/main" id="{E100073B-032F-2800-B101-8AAEE038B0CA}"/>
              </a:ext>
            </a:extLst>
          </p:cNvPr>
          <p:cNvSpPr>
            <a:spLocks noGrp="1"/>
          </p:cNvSpPr>
          <p:nvPr>
            <p:ph idx="1"/>
          </p:nvPr>
        </p:nvSpPr>
        <p:spPr/>
        <p:txBody>
          <a:bodyPr/>
          <a:lstStyle/>
          <a:p>
            <a:r>
              <a:rPr lang="en-US" dirty="0" err="1"/>
              <a:t>Flawfinder</a:t>
            </a:r>
            <a:r>
              <a:rPr lang="en-US" dirty="0"/>
              <a:t> is a simple program that scans C/C++ source code and reports potential security flaws. </a:t>
            </a:r>
            <a:endParaRPr lang="en-US" dirty="0" smtClean="0"/>
          </a:p>
          <a:p>
            <a:r>
              <a:rPr lang="en-US" dirty="0" smtClean="0"/>
              <a:t>It </a:t>
            </a:r>
            <a:r>
              <a:rPr lang="en-US" dirty="0"/>
              <a:t>can be a useful tool for examining software for vulnerabilities, and it can also serve as a simple introduction to static source code analysis tools more generally. </a:t>
            </a:r>
            <a:endParaRPr lang="en-US" dirty="0" smtClean="0"/>
          </a:p>
          <a:p>
            <a:r>
              <a:rPr lang="en-US" dirty="0" smtClean="0"/>
              <a:t>It </a:t>
            </a:r>
            <a:r>
              <a:rPr lang="en-US" dirty="0"/>
              <a:t>is designed to be easy to install and use. </a:t>
            </a:r>
            <a:endParaRPr lang="en-US" dirty="0" smtClean="0"/>
          </a:p>
          <a:p>
            <a:r>
              <a:rPr lang="en-US" dirty="0" err="1" smtClean="0"/>
              <a:t>Flawfinder</a:t>
            </a:r>
            <a:r>
              <a:rPr lang="en-US" dirty="0" smtClean="0"/>
              <a:t> </a:t>
            </a:r>
            <a:r>
              <a:rPr lang="en-US" dirty="0"/>
              <a:t>supports the Common Weakness Enumeration (CWE) and is officially CWE-Compatible.</a:t>
            </a:r>
            <a:endParaRPr lang="en-IN" dirty="0"/>
          </a:p>
        </p:txBody>
      </p:sp>
    </p:spTree>
    <p:extLst>
      <p:ext uri="{BB962C8B-B14F-4D97-AF65-F5344CB8AC3E}">
        <p14:creationId xmlns:p14="http://schemas.microsoft.com/office/powerpoint/2010/main" val="27065240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1578359" y="543916"/>
            <a:ext cx="9672393" cy="4972748"/>
          </a:xfrm>
          <a:prstGeom prst="rect">
            <a:avLst/>
          </a:prstGeom>
        </p:spPr>
      </p:pic>
    </p:spTree>
    <p:extLst>
      <p:ext uri="{BB962C8B-B14F-4D97-AF65-F5344CB8AC3E}">
        <p14:creationId xmlns:p14="http://schemas.microsoft.com/office/powerpoint/2010/main" val="19982969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90392D-5F02-DC6A-32AF-766B59510550}"/>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BEE7F7C8-A6F2-2BF0-1922-0B8CD2BB72EB}"/>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E5EA1805-9B4D-51F8-847F-4BF1A3402822}"/>
              </a:ext>
            </a:extLst>
          </p:cNvPr>
          <p:cNvPicPr>
            <a:picLocks noChangeAspect="1"/>
          </p:cNvPicPr>
          <p:nvPr/>
        </p:nvPicPr>
        <p:blipFill>
          <a:blip r:embed="rId2"/>
          <a:stretch>
            <a:fillRect/>
          </a:stretch>
        </p:blipFill>
        <p:spPr>
          <a:xfrm>
            <a:off x="1706492" y="1648414"/>
            <a:ext cx="7852058" cy="4191791"/>
          </a:xfrm>
          <a:prstGeom prst="rect">
            <a:avLst/>
          </a:prstGeom>
        </p:spPr>
      </p:pic>
    </p:spTree>
    <p:extLst>
      <p:ext uri="{BB962C8B-B14F-4D97-AF65-F5344CB8AC3E}">
        <p14:creationId xmlns:p14="http://schemas.microsoft.com/office/powerpoint/2010/main" val="16171288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6CBC41-AA5D-AA83-F2C0-6C09F9A2A85B}"/>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26896020-2BD4-0527-DFF3-ACA47A20CD34}"/>
              </a:ext>
            </a:extLst>
          </p:cNvPr>
          <p:cNvSpPr>
            <a:spLocks noGrp="1"/>
          </p:cNvSpPr>
          <p:nvPr>
            <p:ph idx="1"/>
          </p:nvPr>
        </p:nvSpPr>
        <p:spPr/>
        <p:txBody>
          <a:bodyPr/>
          <a:lstStyle/>
          <a:p>
            <a:endParaRPr lang="en-IN"/>
          </a:p>
        </p:txBody>
      </p:sp>
      <p:pic>
        <p:nvPicPr>
          <p:cNvPr id="7" name="Picture 6">
            <a:extLst>
              <a:ext uri="{FF2B5EF4-FFF2-40B4-BE49-F238E27FC236}">
                <a16:creationId xmlns="" xmlns:a16="http://schemas.microsoft.com/office/drawing/2014/main" id="{A02C7D02-CB1E-32A0-A950-6A16F967BE2F}"/>
              </a:ext>
            </a:extLst>
          </p:cNvPr>
          <p:cNvPicPr>
            <a:picLocks noChangeAspect="1"/>
          </p:cNvPicPr>
          <p:nvPr/>
        </p:nvPicPr>
        <p:blipFill>
          <a:blip r:embed="rId2"/>
          <a:stretch>
            <a:fillRect/>
          </a:stretch>
        </p:blipFill>
        <p:spPr>
          <a:xfrm>
            <a:off x="1614212" y="1133025"/>
            <a:ext cx="8544380" cy="4591949"/>
          </a:xfrm>
          <a:prstGeom prst="rect">
            <a:avLst/>
          </a:prstGeom>
        </p:spPr>
      </p:pic>
    </p:spTree>
    <p:extLst>
      <p:ext uri="{BB962C8B-B14F-4D97-AF65-F5344CB8AC3E}">
        <p14:creationId xmlns:p14="http://schemas.microsoft.com/office/powerpoint/2010/main" val="41762738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dirty="0"/>
              <a:t>C++ has inherent safety and security challenges because of its low-level capabilities:</a:t>
            </a:r>
            <a:br>
              <a:rPr lang="en-US" dirty="0"/>
            </a:br>
            <a:r>
              <a:rPr lang="en-US" b="1" dirty="0"/>
              <a:t/>
            </a:r>
            <a:br>
              <a:rPr lang="en-US" b="1" dirty="0"/>
            </a:br>
            <a:r>
              <a:rPr lang="en-US" b="1" dirty="0"/>
              <a:t>• Memory Management: </a:t>
            </a:r>
            <a:r>
              <a:rPr lang="en-US" dirty="0"/>
              <a:t>Manual memory management (via new/delete) and direct memory access (via pointers) expose C++ code to security risks like buffer overflows, double-free errors, and memory leaks.</a:t>
            </a:r>
            <a:br>
              <a:rPr lang="en-US" dirty="0"/>
            </a:br>
            <a:r>
              <a:rPr lang="en-US" dirty="0"/>
              <a:t>• </a:t>
            </a:r>
            <a:r>
              <a:rPr lang="en-US" b="1" dirty="0"/>
              <a:t>Undefined </a:t>
            </a:r>
            <a:r>
              <a:rPr lang="en-US" b="1" dirty="0" err="1"/>
              <a:t>Behaviour</a:t>
            </a:r>
            <a:r>
              <a:rPr lang="en-US" b="1" dirty="0"/>
              <a:t> (UB): </a:t>
            </a:r>
            <a:r>
              <a:rPr lang="en-US" dirty="0"/>
              <a:t>UB in C++ can lead to unpredictable </a:t>
            </a:r>
            <a:r>
              <a:rPr lang="en-US" dirty="0" err="1"/>
              <a:t>behaviour</a:t>
            </a:r>
            <a:r>
              <a:rPr lang="en-US" dirty="0"/>
              <a:t>, posing both safety and security risks. If not carefully managed, UB can be exploited by attackers to perform malicious actions or destabilize the application.</a:t>
            </a:r>
            <a:br>
              <a:rPr lang="en-US" dirty="0"/>
            </a:br>
            <a:r>
              <a:rPr lang="en-US" dirty="0"/>
              <a:t>• </a:t>
            </a:r>
            <a:r>
              <a:rPr lang="en-US" b="1" dirty="0"/>
              <a:t>Concurrency Issues: </a:t>
            </a:r>
            <a:r>
              <a:rPr lang="en-US" dirty="0"/>
              <a:t>Lack of proper synchronization when using multiple threads can lead to data races and inconsistencies, which compromise both safety and security.</a:t>
            </a:r>
            <a:br>
              <a:rPr lang="en-US" dirty="0"/>
            </a:br>
            <a:r>
              <a:rPr lang="en-US" dirty="0"/>
              <a:t/>
            </a:r>
            <a:br>
              <a:rPr lang="en-US" dirty="0"/>
            </a:br>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7243600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78969" y="1258680"/>
            <a:ext cx="10515600" cy="3817529"/>
          </a:xfrm>
        </p:spPr>
        <p:txBody>
          <a:bodyPr>
            <a:noAutofit/>
          </a:bodyPr>
          <a:lstStyle/>
          <a:p>
            <a:pPr marL="0" indent="0" fontAlgn="base">
              <a:buNone/>
            </a:pPr>
            <a:r>
              <a:rPr lang="en-US" altLang="en-US" sz="2400" dirty="0" smtClean="0">
                <a:latin typeface="Times New Roman" pitchFamily="18" charset="0"/>
                <a:cs typeface="Times New Roman" pitchFamily="18" charset="0"/>
              </a:rPr>
              <a:t>The following best practices assist you in securing your C++ code and detecting potential security threats, vulnerabilities, and malware attacks, ensuring your code is cleaner.</a:t>
            </a:r>
          </a:p>
          <a:p>
            <a:pPr fontAlgn="base"/>
            <a:endParaRPr lang="en-US" altLang="en-US" sz="2400" dirty="0" smtClean="0">
              <a:latin typeface="Times New Roman" pitchFamily="18" charset="0"/>
              <a:cs typeface="Times New Roman" pitchFamily="18" charset="0"/>
            </a:endParaRPr>
          </a:p>
          <a:p>
            <a:pPr fontAlgn="base"/>
            <a:r>
              <a:rPr lang="en-US" altLang="en-US" sz="2400" b="1" dirty="0" smtClean="0">
                <a:latin typeface="Times New Roman" pitchFamily="18" charset="0"/>
                <a:cs typeface="Times New Roman" pitchFamily="18" charset="0"/>
              </a:rPr>
              <a:t>Prevent buffer overflow:</a:t>
            </a:r>
            <a:r>
              <a:rPr lang="en-US" altLang="en-US" sz="2400" dirty="0" smtClean="0">
                <a:latin typeface="Times New Roman" pitchFamily="18" charset="0"/>
                <a:cs typeface="Times New Roman" pitchFamily="18" charset="0"/>
              </a:rPr>
              <a:t> You need to utilize std::string and std::vector for memory management automation and bonus checking, decreasing the risk of buffer overflows. Also, avoid </a:t>
            </a:r>
            <a:r>
              <a:rPr lang="en-US" altLang="en-US" sz="2400" dirty="0" err="1" smtClean="0">
                <a:latin typeface="Times New Roman" pitchFamily="18" charset="0"/>
                <a:cs typeface="Times New Roman" pitchFamily="18" charset="0"/>
              </a:rPr>
              <a:t>strcpy</a:t>
            </a:r>
            <a:r>
              <a:rPr lang="en-US" altLang="en-US" sz="2400" dirty="0" smtClean="0">
                <a:latin typeface="Times New Roman" pitchFamily="18" charset="0"/>
                <a:cs typeface="Times New Roman" pitchFamily="18" charset="0"/>
              </a:rPr>
              <a:t> and </a:t>
            </a:r>
            <a:r>
              <a:rPr lang="en-US" altLang="en-US" sz="2400" dirty="0" err="1" smtClean="0">
                <a:latin typeface="Times New Roman" pitchFamily="18" charset="0"/>
                <a:cs typeface="Times New Roman" pitchFamily="18" charset="0"/>
              </a:rPr>
              <a:t>strncpy</a:t>
            </a:r>
            <a:r>
              <a:rPr lang="en-US" altLang="en-US" sz="2400" dirty="0" smtClean="0">
                <a:latin typeface="Times New Roman" pitchFamily="18" charset="0"/>
                <a:cs typeface="Times New Roman" pitchFamily="18" charset="0"/>
              </a:rPr>
              <a:t> can lead to buffer overflows if not used properly.</a:t>
            </a:r>
          </a:p>
          <a:p>
            <a:pPr fontAlgn="base"/>
            <a:endParaRPr lang="en-US" altLang="en-US" sz="2400" dirty="0" smtClean="0">
              <a:latin typeface="Times New Roman" pitchFamily="18" charset="0"/>
              <a:cs typeface="Times New Roman" pitchFamily="18" charset="0"/>
            </a:endParaRPr>
          </a:p>
          <a:p>
            <a:pPr fontAlgn="base"/>
            <a:r>
              <a:rPr lang="en-US" altLang="en-US" sz="2400" b="1" dirty="0" smtClean="0">
                <a:latin typeface="Times New Roman" pitchFamily="18" charset="0"/>
                <a:cs typeface="Times New Roman" pitchFamily="18" charset="0"/>
              </a:rPr>
              <a:t>Error handling and logging:</a:t>
            </a:r>
            <a:r>
              <a:rPr lang="en-US" altLang="en-US" sz="2400" dirty="0" smtClean="0">
                <a:latin typeface="Times New Roman" pitchFamily="18" charset="0"/>
                <a:cs typeface="Times New Roman" pitchFamily="18" charset="0"/>
              </a:rPr>
              <a:t> C++ can efficiently manage unexpected conditions like invalid input and resource exhaustion. It can provide structure in that way, which helps to handle errors and propagate them.</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normAutofit/>
          </a:bodyPr>
          <a:lstStyle/>
          <a:p>
            <a:r>
              <a:rPr lang="en-US" sz="4000" b="1" dirty="0" smtClean="0">
                <a:solidFill>
                  <a:srgbClr val="030328"/>
                </a:solidFill>
                <a:latin typeface="Times New Roman" pitchFamily="18" charset="0"/>
                <a:cs typeface="Times New Roman" pitchFamily="18" charset="0"/>
              </a:rPr>
              <a:t>Best Practices for C++ Cyber Security</a:t>
            </a:r>
          </a:p>
        </p:txBody>
      </p:sp>
    </p:spTree>
    <p:extLst>
      <p:ext uri="{BB962C8B-B14F-4D97-AF65-F5344CB8AC3E}">
        <p14:creationId xmlns:p14="http://schemas.microsoft.com/office/powerpoint/2010/main" val="15517197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2F8C9F-6986-CF8C-7CFE-9616271CA187}"/>
              </a:ext>
            </a:extLst>
          </p:cNvPr>
          <p:cNvSpPr>
            <a:spLocks noGrp="1"/>
          </p:cNvSpPr>
          <p:nvPr>
            <p:ph idx="1"/>
          </p:nvPr>
        </p:nvSpPr>
        <p:spPr>
          <a:xfrm>
            <a:off x="851263" y="1773374"/>
            <a:ext cx="10515600" cy="4353106"/>
          </a:xfrm>
        </p:spPr>
        <p:txBody>
          <a:bodyPr>
            <a:noAutofit/>
          </a:bodyPr>
          <a:lstStyle/>
          <a:p>
            <a:pPr fontAlgn="base"/>
            <a:r>
              <a:rPr lang="en-US" altLang="en-US" sz="2000" b="1" dirty="0" smtClean="0">
                <a:latin typeface="Times New Roman" pitchFamily="18" charset="0"/>
                <a:cs typeface="Times New Roman" pitchFamily="18" charset="0"/>
              </a:rPr>
              <a:t>Choose modern C++ features:</a:t>
            </a:r>
            <a:r>
              <a:rPr lang="en-US" altLang="en-US" sz="2000" dirty="0" smtClean="0">
                <a:latin typeface="Times New Roman" pitchFamily="18" charset="0"/>
                <a:cs typeface="Times New Roman" pitchFamily="18" charset="0"/>
              </a:rPr>
              <a:t> Adding modern features like RAII and employing range-based loops can ensure automated resources and decrease the risk of memory leaks and potential terror threats. Use smart pointers like std::</a:t>
            </a:r>
            <a:r>
              <a:rPr lang="en-US" altLang="en-US" sz="2000" dirty="0" err="1" smtClean="0">
                <a:latin typeface="Times New Roman" pitchFamily="18" charset="0"/>
                <a:cs typeface="Times New Roman" pitchFamily="18" charset="0"/>
              </a:rPr>
              <a:t>unique_ptr</a:t>
            </a:r>
            <a:r>
              <a:rPr lang="en-US" altLang="en-US" sz="2000" dirty="0" smtClean="0">
                <a:latin typeface="Times New Roman" pitchFamily="18" charset="0"/>
                <a:cs typeface="Times New Roman" pitchFamily="18" charset="0"/>
              </a:rPr>
              <a:t> and std::</a:t>
            </a:r>
            <a:r>
              <a:rPr lang="en-US" altLang="en-US" sz="2000" dirty="0" err="1" smtClean="0">
                <a:latin typeface="Times New Roman" pitchFamily="18" charset="0"/>
                <a:cs typeface="Times New Roman" pitchFamily="18" charset="0"/>
              </a:rPr>
              <a:t>shared_ptr</a:t>
            </a:r>
            <a:r>
              <a:rPr lang="en-US" altLang="en-US" sz="2000" dirty="0" smtClean="0">
                <a:latin typeface="Times New Roman" pitchFamily="18" charset="0"/>
                <a:cs typeface="Times New Roman" pitchFamily="18" charset="0"/>
              </a:rPr>
              <a:t> to handle objects and prevent memory leaks.</a:t>
            </a:r>
          </a:p>
          <a:p>
            <a:pPr fontAlgn="base"/>
            <a:endParaRPr lang="en-US" altLang="en-US" sz="2000" b="1" dirty="0" smtClean="0">
              <a:latin typeface="Times New Roman" pitchFamily="18" charset="0"/>
              <a:cs typeface="Times New Roman" pitchFamily="18" charset="0"/>
            </a:endParaRPr>
          </a:p>
          <a:p>
            <a:pPr fontAlgn="base"/>
            <a:r>
              <a:rPr lang="en-US" altLang="en-US" sz="2000" b="1" dirty="0" smtClean="0">
                <a:latin typeface="Times New Roman" pitchFamily="18" charset="0"/>
                <a:cs typeface="Times New Roman" pitchFamily="18" charset="0"/>
              </a:rPr>
              <a:t>RAII and secure standard libraries: </a:t>
            </a:r>
            <a:r>
              <a:rPr lang="en-US" altLang="en-US" sz="2000" dirty="0" smtClean="0">
                <a:latin typeface="Times New Roman" pitchFamily="18" charset="0"/>
                <a:cs typeface="Times New Roman" pitchFamily="18" charset="0"/>
              </a:rPr>
              <a:t>Setting standard libraries and algorithms like std::hash for hashing and std::</a:t>
            </a:r>
            <a:r>
              <a:rPr lang="en-US" altLang="en-US" sz="2000" dirty="0" err="1" smtClean="0">
                <a:latin typeface="Times New Roman" pitchFamily="18" charset="0"/>
                <a:cs typeface="Times New Roman" pitchFamily="18" charset="0"/>
              </a:rPr>
              <a:t>random_device</a:t>
            </a:r>
            <a:r>
              <a:rPr lang="en-US" altLang="en-US" sz="2000" dirty="0" smtClean="0">
                <a:latin typeface="Times New Roman" pitchFamily="18" charset="0"/>
                <a:cs typeface="Times New Roman" pitchFamily="18" charset="0"/>
              </a:rPr>
              <a:t> can help secure and handle data structure efficiently. Also, evaluate carefully and determine secure third-party libraries for particular tasks.</a:t>
            </a:r>
          </a:p>
          <a:p>
            <a:pPr fontAlgn="base"/>
            <a:endParaRPr lang="en-US" altLang="en-US" sz="2000" b="1" dirty="0" smtClean="0">
              <a:latin typeface="Times New Roman" pitchFamily="18" charset="0"/>
              <a:cs typeface="Times New Roman" pitchFamily="18" charset="0"/>
            </a:endParaRPr>
          </a:p>
          <a:p>
            <a:pPr fontAlgn="base"/>
            <a:r>
              <a:rPr lang="en-US" altLang="en-US" sz="2000" b="1" dirty="0" smtClean="0">
                <a:latin typeface="Times New Roman" pitchFamily="18" charset="0"/>
                <a:cs typeface="Times New Roman" pitchFamily="18" charset="0"/>
              </a:rPr>
              <a:t>Utilize static analysis tools and regular updates:</a:t>
            </a:r>
            <a:r>
              <a:rPr lang="en-US" altLang="en-US" sz="2000" dirty="0" smtClean="0">
                <a:latin typeface="Times New Roman" pitchFamily="18" charset="0"/>
                <a:cs typeface="Times New Roman" pitchFamily="18" charset="0"/>
              </a:rPr>
              <a:t> Implementing tools like Clang’s static analyzer, </a:t>
            </a:r>
            <a:r>
              <a:rPr lang="en-US" altLang="en-US" sz="2000" dirty="0" err="1" smtClean="0">
                <a:latin typeface="Times New Roman" pitchFamily="18" charset="0"/>
                <a:cs typeface="Times New Roman" pitchFamily="18" charset="0"/>
              </a:rPr>
              <a:t>Veracode</a:t>
            </a:r>
            <a:r>
              <a:rPr lang="en-US" altLang="en-US" sz="2000" dirty="0" smtClean="0">
                <a:latin typeface="Times New Roman" pitchFamily="18" charset="0"/>
                <a:cs typeface="Times New Roman" pitchFamily="18" charset="0"/>
              </a:rPr>
              <a:t>, and </a:t>
            </a:r>
            <a:r>
              <a:rPr lang="en-US" altLang="en-US" sz="2000" dirty="0" err="1" smtClean="0">
                <a:latin typeface="Times New Roman" pitchFamily="18" charset="0"/>
                <a:cs typeface="Times New Roman" pitchFamily="18" charset="0"/>
              </a:rPr>
              <a:t>Coverity</a:t>
            </a:r>
            <a:r>
              <a:rPr lang="en-US" altLang="en-US" sz="2000" dirty="0" smtClean="0">
                <a:latin typeface="Times New Roman" pitchFamily="18" charset="0"/>
                <a:cs typeface="Times New Roman" pitchFamily="18" charset="0"/>
              </a:rPr>
              <a:t> can detect potential security vulnerabilities in your code. Ensure your libraries, tools, and compilers are updated to maximize your advantage from security patches and improvements.</a:t>
            </a:r>
          </a:p>
        </p:txBody>
      </p:sp>
      <p:sp>
        <p:nvSpPr>
          <p:cNvPr id="2" name="Title 1">
            <a:extLst>
              <a:ext uri="{FF2B5EF4-FFF2-40B4-BE49-F238E27FC236}">
                <a16:creationId xmlns="" xmlns:a16="http://schemas.microsoft.com/office/drawing/2014/main" id="{CA0C40D8-5DC5-6B3A-9F36-1235BA7B1E26}"/>
              </a:ext>
            </a:extLst>
          </p:cNvPr>
          <p:cNvSpPr>
            <a:spLocks noGrp="1"/>
          </p:cNvSpPr>
          <p:nvPr>
            <p:ph type="title"/>
          </p:nvPr>
        </p:nvSpPr>
        <p:spPr/>
        <p:txBody>
          <a:bodyPr>
            <a:normAutofit/>
          </a:bodyPr>
          <a:lstStyle/>
          <a:p>
            <a:r>
              <a:rPr lang="en-US" sz="4000" b="1" dirty="0" smtClean="0">
                <a:solidFill>
                  <a:srgbClr val="030328"/>
                </a:solidFill>
                <a:latin typeface="Times New Roman" pitchFamily="18" charset="0"/>
                <a:cs typeface="Times New Roman" pitchFamily="18" charset="0"/>
              </a:rPr>
              <a:t>Best Practices for C++ Cyber Security (Cont.,)</a:t>
            </a:r>
          </a:p>
        </p:txBody>
      </p:sp>
    </p:spTree>
    <p:extLst>
      <p:ext uri="{BB962C8B-B14F-4D97-AF65-F5344CB8AC3E}">
        <p14:creationId xmlns:p14="http://schemas.microsoft.com/office/powerpoint/2010/main" val="15517197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728" indent="0">
              <a:buNone/>
            </a:pPr>
            <a:r>
              <a:rPr lang="en-US" sz="2200" b="1" dirty="0">
                <a:latin typeface="Times New Roman" pitchFamily="18" charset="0"/>
                <a:cs typeface="Times New Roman" pitchFamily="18" charset="0"/>
              </a:rPr>
              <a:t>Use Modern C++ Features: </a:t>
            </a:r>
            <a:r>
              <a:rPr lang="en-US" sz="2200" dirty="0">
                <a:latin typeface="Times New Roman" pitchFamily="18" charset="0"/>
                <a:cs typeface="Times New Roman" pitchFamily="18" charset="0"/>
              </a:rPr>
              <a:t>Modern C++ (C++11 and beyond) provides safer memory management options (e.g., </a:t>
            </a:r>
            <a:r>
              <a:rPr lang="en-US" sz="2200" dirty="0" err="1">
                <a:latin typeface="Times New Roman" pitchFamily="18" charset="0"/>
                <a:cs typeface="Times New Roman" pitchFamily="18" charset="0"/>
              </a:rPr>
              <a:t>std</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unique_ptr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std</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shared_ptr</a:t>
            </a:r>
            <a:r>
              <a:rPr lang="en-US" sz="2200" dirty="0">
                <a:latin typeface="Times New Roman" pitchFamily="18" charset="0"/>
                <a:cs typeface="Times New Roman" pitchFamily="18" charset="0"/>
              </a:rPr>
              <a:t>) and threading </a:t>
            </a:r>
            <a:r>
              <a:rPr lang="en-US" sz="2200" dirty="0" smtClean="0">
                <a:latin typeface="Times New Roman" pitchFamily="18" charset="0"/>
                <a:cs typeface="Times New Roman" pitchFamily="18" charset="0"/>
              </a:rPr>
              <a:t>utilities </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std</a:t>
            </a:r>
            <a:r>
              <a:rPr lang="en-US" sz="2200" dirty="0">
                <a:latin typeface="Times New Roman" pitchFamily="18" charset="0"/>
                <a:cs typeface="Times New Roman" pitchFamily="18" charset="0"/>
              </a:rPr>
              <a:t>::thread, </a:t>
            </a:r>
            <a:r>
              <a:rPr lang="en-US" sz="2200" dirty="0" err="1">
                <a:latin typeface="Times New Roman" pitchFamily="18" charset="0"/>
                <a:cs typeface="Times New Roman" pitchFamily="18" charset="0"/>
              </a:rPr>
              <a:t>std</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mutex</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std</a:t>
            </a:r>
            <a:r>
              <a:rPr lang="en-US" sz="2200" dirty="0">
                <a:latin typeface="Times New Roman" pitchFamily="18" charset="0"/>
                <a:cs typeface="Times New Roman" pitchFamily="18" charset="0"/>
              </a:rPr>
              <a:t>::atomic) that help prevent common errors</a:t>
            </a:r>
            <a:r>
              <a:rPr lang="en-US" sz="2200" dirty="0" smtClean="0">
                <a:latin typeface="Times New Roman" pitchFamily="18" charset="0"/>
                <a:cs typeface="Times New Roman" pitchFamily="18" charset="0"/>
              </a:rPr>
              <a:t>.</a:t>
            </a:r>
          </a:p>
          <a:p>
            <a:pPr marL="109728" indent="0">
              <a:buNone/>
            </a:pPr>
            <a:endParaRPr lang="en-US" sz="2200" dirty="0">
              <a:latin typeface="Times New Roman" pitchFamily="18" charset="0"/>
              <a:cs typeface="Times New Roman" pitchFamily="18" charset="0"/>
            </a:endParaRPr>
          </a:p>
          <a:p>
            <a:pPr marL="109728" indent="0">
              <a:buNone/>
            </a:pPr>
            <a:r>
              <a:rPr lang="en-US" sz="2200" b="1" dirty="0" smtClean="0">
                <a:latin typeface="Times New Roman" pitchFamily="18" charset="0"/>
                <a:cs typeface="Times New Roman" pitchFamily="18" charset="0"/>
              </a:rPr>
              <a:t>Static </a:t>
            </a:r>
            <a:r>
              <a:rPr lang="en-US" sz="2200" b="1" dirty="0">
                <a:latin typeface="Times New Roman" pitchFamily="18" charset="0"/>
                <a:cs typeface="Times New Roman" pitchFamily="18" charset="0"/>
              </a:rPr>
              <a:t>Analysis Tools: </a:t>
            </a:r>
            <a:r>
              <a:rPr lang="en-US" sz="2200" dirty="0">
                <a:latin typeface="Times New Roman" pitchFamily="18" charset="0"/>
                <a:cs typeface="Times New Roman" pitchFamily="18" charset="0"/>
              </a:rPr>
              <a:t>Tools like Clang-Tidy, </a:t>
            </a:r>
            <a:r>
              <a:rPr lang="en-US" sz="2200" dirty="0" err="1">
                <a:latin typeface="Times New Roman" pitchFamily="18" charset="0"/>
                <a:cs typeface="Times New Roman" pitchFamily="18" charset="0"/>
              </a:rPr>
              <a:t>Cppcheck</a:t>
            </a:r>
            <a:r>
              <a:rPr lang="en-US" sz="2200" dirty="0">
                <a:latin typeface="Times New Roman" pitchFamily="18" charset="0"/>
                <a:cs typeface="Times New Roman" pitchFamily="18" charset="0"/>
              </a:rPr>
              <a:t>, and </a:t>
            </a:r>
            <a:r>
              <a:rPr lang="en-US" sz="2200" dirty="0" err="1">
                <a:latin typeface="Times New Roman" pitchFamily="18" charset="0"/>
                <a:cs typeface="Times New Roman" pitchFamily="18" charset="0"/>
              </a:rPr>
              <a:t>Coverity</a:t>
            </a:r>
            <a:r>
              <a:rPr lang="en-US" sz="2200" dirty="0">
                <a:latin typeface="Times New Roman" pitchFamily="18" charset="0"/>
                <a:cs typeface="Times New Roman" pitchFamily="18" charset="0"/>
              </a:rPr>
              <a:t> can detect security vulnerabilities and potential safety issues in C++ code</a:t>
            </a:r>
            <a:r>
              <a:rPr lang="en-US" sz="2200" dirty="0" smtClean="0">
                <a:latin typeface="Times New Roman" pitchFamily="18" charset="0"/>
                <a:cs typeface="Times New Roman" pitchFamily="18" charset="0"/>
              </a:rPr>
              <a:t>.</a:t>
            </a:r>
          </a:p>
          <a:p>
            <a:pPr marL="109728" indent="0">
              <a:buNone/>
            </a:pP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2200" b="1" dirty="0" smtClean="0">
                <a:latin typeface="Times New Roman" pitchFamily="18" charset="0"/>
                <a:cs typeface="Times New Roman" pitchFamily="18" charset="0"/>
              </a:rPr>
              <a:t>Runtime </a:t>
            </a:r>
            <a:r>
              <a:rPr lang="en-US" sz="2200" b="1" dirty="0">
                <a:latin typeface="Times New Roman" pitchFamily="18" charset="0"/>
                <a:cs typeface="Times New Roman" pitchFamily="18" charset="0"/>
              </a:rPr>
              <a:t>Safety Checks:</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AddressSanitizer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ThreadSanitizer</a:t>
            </a:r>
            <a:r>
              <a:rPr lang="en-US" sz="2200" dirty="0">
                <a:latin typeface="Times New Roman" pitchFamily="18" charset="0"/>
                <a:cs typeface="Times New Roman" pitchFamily="18" charset="0"/>
              </a:rPr>
              <a:t>, and </a:t>
            </a:r>
            <a:r>
              <a:rPr lang="en-US" sz="2200" dirty="0" err="1">
                <a:latin typeface="Times New Roman" pitchFamily="18" charset="0"/>
                <a:cs typeface="Times New Roman" pitchFamily="18" charset="0"/>
              </a:rPr>
              <a:t>UndefinedBehaviorSanitizer</a:t>
            </a:r>
            <a:r>
              <a:rPr lang="en-US" sz="2200" dirty="0">
                <a:latin typeface="Times New Roman" pitchFamily="18" charset="0"/>
                <a:cs typeface="Times New Roman" pitchFamily="18" charset="0"/>
              </a:rPr>
              <a:t> can catch many safety issues during </a:t>
            </a:r>
            <a:r>
              <a:rPr lang="en-US" sz="2200" dirty="0" smtClean="0">
                <a:latin typeface="Times New Roman" pitchFamily="18" charset="0"/>
                <a:cs typeface="Times New Roman" pitchFamily="18" charset="0"/>
              </a:rPr>
              <a:t>development</a:t>
            </a:r>
          </a:p>
          <a:p>
            <a:pPr marL="109728" indent="0">
              <a:buNone/>
            </a:pPr>
            <a:r>
              <a:rPr lang="en-US" sz="2200">
                <a:latin typeface="Times New Roman" pitchFamily="18" charset="0"/>
                <a:cs typeface="Times New Roman" pitchFamily="18" charset="0"/>
              </a:rPr>
              <a:t/>
            </a:r>
            <a:br>
              <a:rPr lang="en-US" sz="2200">
                <a:latin typeface="Times New Roman" pitchFamily="18" charset="0"/>
                <a:cs typeface="Times New Roman" pitchFamily="18" charset="0"/>
              </a:rPr>
            </a:br>
            <a:r>
              <a:rPr lang="en-US" sz="2200" b="1" smtClean="0">
                <a:latin typeface="Times New Roman" pitchFamily="18" charset="0"/>
                <a:cs typeface="Times New Roman" pitchFamily="18" charset="0"/>
              </a:rPr>
              <a:t>Use </a:t>
            </a:r>
            <a:r>
              <a:rPr lang="en-US" sz="2200" b="1" dirty="0">
                <a:latin typeface="Times New Roman" pitchFamily="18" charset="0"/>
                <a:cs typeface="Times New Roman" pitchFamily="18" charset="0"/>
              </a:rPr>
              <a:t>Safer Libraries: </a:t>
            </a:r>
            <a:r>
              <a:rPr lang="en-US" sz="2200" dirty="0">
                <a:latin typeface="Times New Roman" pitchFamily="18" charset="0"/>
                <a:cs typeface="Times New Roman" pitchFamily="18" charset="0"/>
              </a:rPr>
              <a:t>Libraries like the C++ Standard Library and Boost offer data structures and algorithms with built-in safety checks and well-tested implementations.</a:t>
            </a:r>
          </a:p>
          <a:p>
            <a:endParaRPr lang="en-US" dirty="0"/>
          </a:p>
        </p:txBody>
      </p:sp>
      <p:sp>
        <p:nvSpPr>
          <p:cNvPr id="3" name="Title 2"/>
          <p:cNvSpPr>
            <a:spLocks noGrp="1"/>
          </p:cNvSpPr>
          <p:nvPr>
            <p:ph type="title"/>
          </p:nvPr>
        </p:nvSpPr>
        <p:spPr/>
        <p:txBody>
          <a:bodyPr>
            <a:noAutofit/>
          </a:bodyPr>
          <a:lstStyle/>
          <a:p>
            <a:r>
              <a:rPr lang="en-US" sz="4000" dirty="0" smtClean="0">
                <a:effectLst/>
              </a:rPr>
              <a:t/>
            </a:r>
            <a:br>
              <a:rPr lang="en-US" sz="4000" dirty="0" smtClean="0">
                <a:effectLst/>
              </a:rPr>
            </a:br>
            <a:r>
              <a:rPr lang="en-US" sz="2800" dirty="0">
                <a:solidFill>
                  <a:schemeClr val="tx1"/>
                </a:solidFill>
                <a:latin typeface="Times New Roman" pitchFamily="18" charset="0"/>
                <a:ea typeface="+mn-ea"/>
                <a:cs typeface="Times New Roman" pitchFamily="18" charset="0"/>
              </a:rPr>
              <a:t>Strategies to Mitigate C++ Safety and Security Issues</a:t>
            </a:r>
            <a:br>
              <a:rPr lang="en-US" sz="2800" dirty="0">
                <a:solidFill>
                  <a:schemeClr val="tx1"/>
                </a:solidFill>
                <a:latin typeface="Times New Roman" pitchFamily="18" charset="0"/>
                <a:ea typeface="+mn-ea"/>
                <a:cs typeface="Times New Roman" pitchFamily="18" charset="0"/>
              </a:rPr>
            </a:br>
            <a:r>
              <a:rPr lang="en-US" sz="2800" dirty="0">
                <a:solidFill>
                  <a:schemeClr val="tx1"/>
                </a:solidFill>
                <a:latin typeface="Times New Roman" pitchFamily="18" charset="0"/>
                <a:ea typeface="+mn-ea"/>
                <a:cs typeface="Times New Roman" pitchFamily="18" charset="0"/>
              </a:rPr>
              <a:t/>
            </a:r>
            <a:br>
              <a:rPr lang="en-US" sz="2800" dirty="0">
                <a:solidFill>
                  <a:schemeClr val="tx1"/>
                </a:solidFill>
                <a:latin typeface="Times New Roman" pitchFamily="18" charset="0"/>
                <a:ea typeface="+mn-ea"/>
                <a:cs typeface="Times New Roman" pitchFamily="18" charset="0"/>
              </a:rPr>
            </a:br>
            <a:endParaRPr lang="en-US" sz="2800" dirty="0">
              <a:solidFill>
                <a:schemeClr val="tx1"/>
              </a:solidFill>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30947624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525</TotalTime>
  <Words>1828</Words>
  <Application>Microsoft Office PowerPoint</Application>
  <PresentationFormat>Widescreen</PresentationFormat>
  <Paragraphs>207</Paragraphs>
  <Slides>58</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58</vt:i4>
      </vt:variant>
    </vt:vector>
  </HeadingPairs>
  <TitlesOfParts>
    <vt:vector size="72" baseType="lpstr">
      <vt:lpstr>-apple-system</vt:lpstr>
      <vt:lpstr>Arial</vt:lpstr>
      <vt:lpstr>Calibri</vt:lpstr>
      <vt:lpstr>Georgia</vt:lpstr>
      <vt:lpstr>Lucida Sans Unicode</vt:lpstr>
      <vt:lpstr>Poppins</vt:lpstr>
      <vt:lpstr>Roboto</vt:lpstr>
      <vt:lpstr>sohne</vt:lpstr>
      <vt:lpstr>source-serif-pro</vt:lpstr>
      <vt:lpstr>Times New Roman</vt:lpstr>
      <vt:lpstr>Verdana</vt:lpstr>
      <vt:lpstr>Wingdings 2</vt:lpstr>
      <vt:lpstr>Wingdings 3</vt:lpstr>
      <vt:lpstr>Concourse</vt:lpstr>
      <vt:lpstr>Overview of Cyber Security attacks on source code</vt:lpstr>
      <vt:lpstr>Top 5 C++ security risks</vt:lpstr>
      <vt:lpstr>Problems with Memory </vt:lpstr>
      <vt:lpstr>PowerPoint Presentation</vt:lpstr>
      <vt:lpstr>Memory Overflow  </vt:lpstr>
      <vt:lpstr>PowerPoint Presentation</vt:lpstr>
      <vt:lpstr>PowerPoint Presentation</vt:lpstr>
      <vt:lpstr>PowerPoint Presentation</vt:lpstr>
      <vt:lpstr>Memory SafeR Functions </vt:lpstr>
      <vt:lpstr>PowerPoint Presentation</vt:lpstr>
      <vt:lpstr>PowerPoint Presentation</vt:lpstr>
      <vt:lpstr>PowerPoint Presentation</vt:lpstr>
      <vt:lpstr>PowerPoint Presentation</vt:lpstr>
      <vt:lpstr>1. Buffer overflow</vt:lpstr>
      <vt:lpstr>1. Buffer overflow (Cont.,)</vt:lpstr>
      <vt:lpstr>1. Buffer overflow (Cont.,)</vt:lpstr>
      <vt:lpstr>1. Buffer overflow (Cont.,)</vt:lpstr>
      <vt:lpstr>2. Integer overflow and underflow</vt:lpstr>
      <vt:lpstr>2. Integer overflow and underflow (Cont.,)</vt:lpstr>
      <vt:lpstr>2. Integer overflow and underflow (Cont.,)</vt:lpstr>
      <vt:lpstr>3. Pointer initialization</vt:lpstr>
      <vt:lpstr>3. Pointer initialization (Cont.,)</vt:lpstr>
      <vt:lpstr>3. Pointer initialization (Cont.,)</vt:lpstr>
      <vt:lpstr>3. Pointer initialization (Cont.,)</vt:lpstr>
      <vt:lpstr>4. Incorrect type conversion</vt:lpstr>
      <vt:lpstr>4. Incorrect type conversion (Cont.,)</vt:lpstr>
      <vt:lpstr>4. Incorrect type conversion (Cont.,)</vt:lpstr>
      <vt:lpstr>4. Incorrect type conversion (Cont.,)</vt:lpstr>
      <vt:lpstr>5. Format string vulnerability</vt:lpstr>
      <vt:lpstr>5. Format string vulnerability (Cont.,)</vt:lpstr>
      <vt:lpstr>5. Format string vulnerability (Cont.,)</vt:lpstr>
      <vt:lpstr>5. Format string vulnerability (Cont.,)</vt:lpstr>
      <vt:lpstr>5. Format string vulnerability (Cont.,)</vt:lpstr>
      <vt:lpstr>5. Format string vulnerability (Cont.,)</vt:lpstr>
      <vt:lpstr>5. Format string vulnerability (Cont.,)</vt:lpstr>
      <vt:lpstr>Protecting Source Code</vt:lpstr>
      <vt:lpstr>Security Vulnerabilities</vt:lpstr>
      <vt:lpstr>Ways to detect Security Vulnerabilities</vt:lpstr>
      <vt:lpstr>Ways to detect Security Vulnerabilities (Cont.,)</vt:lpstr>
      <vt:lpstr>Using cppcheck &amp; flawfinder for C &amp; C++ Static Analysis </vt:lpstr>
      <vt:lpstr>Static code analysis</vt:lpstr>
      <vt:lpstr>Commonly-occuring classes of memory-related bugs in C/C++.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Flawfinder</vt:lpstr>
      <vt:lpstr>PowerPoint Presentation</vt:lpstr>
      <vt:lpstr>PowerPoint Presentation</vt:lpstr>
      <vt:lpstr>PowerPoint Presentation</vt:lpstr>
      <vt:lpstr>PowerPoint Presentation</vt:lpstr>
      <vt:lpstr>Best Practices for C++ Cyber Security</vt:lpstr>
      <vt:lpstr>Best Practices for C++ Cyber Security (Cont.,)</vt:lpstr>
      <vt:lpstr> Strategies to Mitigate C++ Safety and Security Issues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R.Santhya (EC-COUNCIL TRAINER-Cyber Security)</dc:creator>
  <cp:lastModifiedBy>Microsoft account</cp:lastModifiedBy>
  <cp:revision>18</cp:revision>
  <dcterms:created xsi:type="dcterms:W3CDTF">2024-12-05T11:54:05Z</dcterms:created>
  <dcterms:modified xsi:type="dcterms:W3CDTF">2024-12-12T11:39:36Z</dcterms:modified>
</cp:coreProperties>
</file>